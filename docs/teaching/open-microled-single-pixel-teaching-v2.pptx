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513cfc485d4dc2" /><Relationship Type="http://schemas.openxmlformats.org/officeDocument/2006/relationships/extended-properties" Target="/docProps/app.xml" Id="Rfd69b8aeb9864d3e" /><Relationship Type="http://schemas.openxmlformats.org/officeDocument/2006/relationships/officeDocument" Target="/ppt/presentation.xml" Id="R94aeb77a25bf4e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00ed6fe9364414"/>
  </p:sldMasterIdLst>
  <p:notesMasterIdLst>
    <p:notesMasterId xmlns:r="http://schemas.openxmlformats.org/officeDocument/2006/relationships" r:id="Rc850f8f4d4c840c8"/>
  </p:notesMasterIdLst>
  <p:sldIdLst>
    <p:sldId xmlns:r="http://schemas.openxmlformats.org/officeDocument/2006/relationships" id="256" r:id="R884c4a10c5744180"/>
    <p:sldId xmlns:r="http://schemas.openxmlformats.org/officeDocument/2006/relationships" id="257" r:id="Rb208f8c24edc41e2"/>
    <p:sldId xmlns:r="http://schemas.openxmlformats.org/officeDocument/2006/relationships" id="258" r:id="Rc5c52adefd7e42e2"/>
    <p:sldId xmlns:r="http://schemas.openxmlformats.org/officeDocument/2006/relationships" id="259" r:id="Reaf0df61504b43b7"/>
    <p:sldId xmlns:r="http://schemas.openxmlformats.org/officeDocument/2006/relationships" id="260" r:id="R64cffc98a0c24a98"/>
    <p:sldId xmlns:r="http://schemas.openxmlformats.org/officeDocument/2006/relationships" id="261" r:id="R07f36d6406c74662"/>
    <p:sldId xmlns:r="http://schemas.openxmlformats.org/officeDocument/2006/relationships" id="262" r:id="R946181298e49418b"/>
    <p:sldId xmlns:r="http://schemas.openxmlformats.org/officeDocument/2006/relationships" id="263" r:id="Ra6987bdc08fc41d1"/>
    <p:sldId xmlns:r="http://schemas.openxmlformats.org/officeDocument/2006/relationships" id="264" r:id="R8d84d68bd07542e0"/>
    <p:sldId xmlns:r="http://schemas.openxmlformats.org/officeDocument/2006/relationships" id="265" r:id="R7b969bd9c332418a"/>
    <p:sldId xmlns:r="http://schemas.openxmlformats.org/officeDocument/2006/relationships" id="266" r:id="Rbfef91ec2a864a59"/>
    <p:sldId xmlns:r="http://schemas.openxmlformats.org/officeDocument/2006/relationships" id="267" r:id="Rc3de9ec6bb8041ba"/>
    <p:sldId xmlns:r="http://schemas.openxmlformats.org/officeDocument/2006/relationships" id="268" r:id="Rdf9e8baab620478a"/>
    <p:sldId xmlns:r="http://schemas.openxmlformats.org/officeDocument/2006/relationships" id="269" r:id="Rd6368566ab754f1f"/>
    <p:sldId xmlns:r="http://schemas.openxmlformats.org/officeDocument/2006/relationships" id="270" r:id="R70491ffa96e94911"/>
    <p:sldId xmlns:r="http://schemas.openxmlformats.org/officeDocument/2006/relationships" id="271" r:id="R22bd618892dc4d36"/>
    <p:sldId xmlns:r="http://schemas.openxmlformats.org/officeDocument/2006/relationships" id="272" r:id="R3e65dc40aa844b7d"/>
    <p:sldId xmlns:r="http://schemas.openxmlformats.org/officeDocument/2006/relationships" id="273" r:id="R3dfe1cbf2acc437d"/>
    <p:sldId xmlns:r="http://schemas.openxmlformats.org/officeDocument/2006/relationships" id="274" r:id="Rae13faf535074cd0"/>
    <p:sldId xmlns:r="http://schemas.openxmlformats.org/officeDocument/2006/relationships" id="275" r:id="Rcc579ce94f7d48f5"/>
    <p:sldId xmlns:r="http://schemas.openxmlformats.org/officeDocument/2006/relationships" id="276" r:id="Rf8ac8935cc07494e"/>
    <p:sldId xmlns:r="http://schemas.openxmlformats.org/officeDocument/2006/relationships" id="277" r:id="R44ab0f9f78174064"/>
    <p:sldId xmlns:r="http://schemas.openxmlformats.org/officeDocument/2006/relationships" id="278" r:id="R7ca064a82eae48a0"/>
    <p:sldId xmlns:r="http://schemas.openxmlformats.org/officeDocument/2006/relationships" id="279" r:id="Rf4c34bec49b94979"/>
    <p:sldId xmlns:r="http://schemas.openxmlformats.org/officeDocument/2006/relationships" id="280" r:id="Rd2db73e53f0746c5"/>
    <p:sldId xmlns:r="http://schemas.openxmlformats.org/officeDocument/2006/relationships" id="281" r:id="R4665ec5ce4b34fb1"/>
    <p:sldId xmlns:r="http://schemas.openxmlformats.org/officeDocument/2006/relationships" id="282" r:id="Rd61f7838e44d4ea2"/>
    <p:sldId xmlns:r="http://schemas.openxmlformats.org/officeDocument/2006/relationships" id="283" r:id="R0b0ce1acaa8f4f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918a843063467a" /><Relationship Type="http://schemas.openxmlformats.org/officeDocument/2006/relationships/slideMaster" Target="/ppt/slideMasters/slideMaster1.xml" Id="R9000ed6fe9364414" /><Relationship Type="http://schemas.openxmlformats.org/officeDocument/2006/relationships/notesMaster" Target="/ppt/notesMasters/notesMaster1.xml" Id="Rc850f8f4d4c840c8" /><Relationship Type="http://schemas.openxmlformats.org/officeDocument/2006/relationships/presProps" Target="/ppt/presProps.xml" Id="R2796cf5ea10f4511" /><Relationship Type="http://schemas.openxmlformats.org/officeDocument/2006/relationships/tableStyles" Target="/ppt/tableStyles.xml" Id="Ra0f4ba6dc5af4a67" /><Relationship Type="http://schemas.openxmlformats.org/officeDocument/2006/relationships/slide" Target="/ppt/slides/slide1.xml" Id="R884c4a10c5744180" /><Relationship Type="http://schemas.openxmlformats.org/officeDocument/2006/relationships/slide" Target="/ppt/slides/slide2.xml" Id="Rb208f8c24edc41e2" /><Relationship Type="http://schemas.openxmlformats.org/officeDocument/2006/relationships/slide" Target="/ppt/slides/slide3.xml" Id="Rc5c52adefd7e42e2" /><Relationship Type="http://schemas.openxmlformats.org/officeDocument/2006/relationships/slide" Target="/ppt/slides/slide4.xml" Id="Reaf0df61504b43b7" /><Relationship Type="http://schemas.openxmlformats.org/officeDocument/2006/relationships/slide" Target="/ppt/slides/slide5.xml" Id="R64cffc98a0c24a98" /><Relationship Type="http://schemas.openxmlformats.org/officeDocument/2006/relationships/slide" Target="/ppt/slides/slide6.xml" Id="R07f36d6406c74662" /><Relationship Type="http://schemas.openxmlformats.org/officeDocument/2006/relationships/slide" Target="/ppt/slides/slide7.xml" Id="R946181298e49418b" /><Relationship Type="http://schemas.openxmlformats.org/officeDocument/2006/relationships/slide" Target="/ppt/slides/slide8.xml" Id="Ra6987bdc08fc41d1" /><Relationship Type="http://schemas.openxmlformats.org/officeDocument/2006/relationships/slide" Target="/ppt/slides/slide9.xml" Id="R8d84d68bd07542e0" /><Relationship Type="http://schemas.openxmlformats.org/officeDocument/2006/relationships/slide" Target="/ppt/slides/slide10.xml" Id="R7b969bd9c332418a" /><Relationship Type="http://schemas.openxmlformats.org/officeDocument/2006/relationships/slide" Target="/ppt/slides/slide11.xml" Id="Rbfef91ec2a864a59" /><Relationship Type="http://schemas.openxmlformats.org/officeDocument/2006/relationships/slide" Target="/ppt/slides/slide12.xml" Id="Rc3de9ec6bb8041ba" /><Relationship Type="http://schemas.openxmlformats.org/officeDocument/2006/relationships/slide" Target="/ppt/slides/slide13.xml" Id="Rdf9e8baab620478a" /><Relationship Type="http://schemas.openxmlformats.org/officeDocument/2006/relationships/slide" Target="/ppt/slides/slide14.xml" Id="Rd6368566ab754f1f" /><Relationship Type="http://schemas.openxmlformats.org/officeDocument/2006/relationships/slide" Target="/ppt/slides/slide15.xml" Id="R70491ffa96e94911" /><Relationship Type="http://schemas.openxmlformats.org/officeDocument/2006/relationships/slide" Target="/ppt/slides/slide16.xml" Id="R22bd618892dc4d36" /><Relationship Type="http://schemas.openxmlformats.org/officeDocument/2006/relationships/slide" Target="/ppt/slides/slide17.xml" Id="R3e65dc40aa844b7d" /><Relationship Type="http://schemas.openxmlformats.org/officeDocument/2006/relationships/slide" Target="/ppt/slides/slide18.xml" Id="R3dfe1cbf2acc437d" /><Relationship Type="http://schemas.openxmlformats.org/officeDocument/2006/relationships/slide" Target="/ppt/slides/slide19.xml" Id="Rae13faf535074cd0" /><Relationship Type="http://schemas.openxmlformats.org/officeDocument/2006/relationships/slide" Target="/ppt/slides/slide20.xml" Id="Rcc579ce94f7d48f5" /><Relationship Type="http://schemas.openxmlformats.org/officeDocument/2006/relationships/slide" Target="/ppt/slides/slide21.xml" Id="Rf8ac8935cc07494e" /><Relationship Type="http://schemas.openxmlformats.org/officeDocument/2006/relationships/slide" Target="/ppt/slides/slide22.xml" Id="R44ab0f9f78174064" /><Relationship Type="http://schemas.openxmlformats.org/officeDocument/2006/relationships/slide" Target="/ppt/slides/slide23.xml" Id="R7ca064a82eae48a0" /><Relationship Type="http://schemas.openxmlformats.org/officeDocument/2006/relationships/slide" Target="/ppt/slides/slide24.xml" Id="Rf4c34bec49b94979" /><Relationship Type="http://schemas.openxmlformats.org/officeDocument/2006/relationships/slide" Target="/ppt/slides/slide25.xml" Id="Rd2db73e53f0746c5" /><Relationship Type="http://schemas.openxmlformats.org/officeDocument/2006/relationships/slide" Target="/ppt/slides/slide26.xml" Id="R4665ec5ce4b34fb1" /><Relationship Type="http://schemas.openxmlformats.org/officeDocument/2006/relationships/slide" Target="/ppt/slides/slide27.xml" Id="Rd61f7838e44d4ea2" /><Relationship Type="http://schemas.openxmlformats.org/officeDocument/2006/relationships/slide" Target="/ppt/slides/slide28.xml" Id="R0b0ce1acaa8f4f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2c70ea43a44b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ea5239188348ab" /><Relationship Type="http://schemas.openxmlformats.org/officeDocument/2006/relationships/notesMaster" Target="/ppt/notesMasters/notesMaster1.xml" Id="R8cc7b23ee14a47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8ba37d51274412" /><Relationship Type="http://schemas.openxmlformats.org/officeDocument/2006/relationships/notesMaster" Target="/ppt/notesMasters/notesMaster1.xml" Id="R2146d7c6b99244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de823be723499d" /><Relationship Type="http://schemas.openxmlformats.org/officeDocument/2006/relationships/notesMaster" Target="/ppt/notesMasters/notesMaster1.xml" Id="R5c0ce9e0ba0746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5d59316c87440e" /><Relationship Type="http://schemas.openxmlformats.org/officeDocument/2006/relationships/notesMaster" Target="/ppt/notesMasters/notesMaster1.xml" Id="Rc5ce090bb84d48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baf41b81c44fba" /><Relationship Type="http://schemas.openxmlformats.org/officeDocument/2006/relationships/notesMaster" Target="/ppt/notesMasters/notesMaster1.xml" Id="R4637327408174f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ba8364b1de42d3" /><Relationship Type="http://schemas.openxmlformats.org/officeDocument/2006/relationships/notesMaster" Target="/ppt/notesMasters/notesMaster1.xml" Id="R5358653a207f40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3ca411c8704b1f" /><Relationship Type="http://schemas.openxmlformats.org/officeDocument/2006/relationships/notesMaster" Target="/ppt/notesMasters/notesMaster1.xml" Id="R1aa01cfe17d741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b370bd55e64afd" /><Relationship Type="http://schemas.openxmlformats.org/officeDocument/2006/relationships/notesMaster" Target="/ppt/notesMasters/notesMaster1.xml" Id="Rc969dd8aaa0b47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961557f2cf488c" /><Relationship Type="http://schemas.openxmlformats.org/officeDocument/2006/relationships/notesMaster" Target="/ppt/notesMasters/notesMaster1.xml" Id="Rb617a42a34dc45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061a72cb324ba7" /><Relationship Type="http://schemas.openxmlformats.org/officeDocument/2006/relationships/notesMaster" Target="/ppt/notesMasters/notesMaster1.xml" Id="Rb9b6f748a8404f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c972bb7b1b4530" /><Relationship Type="http://schemas.openxmlformats.org/officeDocument/2006/relationships/notesMaster" Target="/ppt/notesMasters/notesMaster1.xml" Id="R769d2a84c7eb45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231aa90f9348e9" /><Relationship Type="http://schemas.openxmlformats.org/officeDocument/2006/relationships/notesMaster" Target="/ppt/notesMasters/notesMaster1.xml" Id="Rf295e57beb3549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0b6e535e884d6b" /><Relationship Type="http://schemas.openxmlformats.org/officeDocument/2006/relationships/notesMaster" Target="/ppt/notesMasters/notesMaster1.xml" Id="Rcc9013d2cd7f4f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c6c8bf46674bf4" /><Relationship Type="http://schemas.openxmlformats.org/officeDocument/2006/relationships/notesMaster" Target="/ppt/notesMasters/notesMaster1.xml" Id="R9807de2d5a7a40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7bdba3acc34fe7" /><Relationship Type="http://schemas.openxmlformats.org/officeDocument/2006/relationships/notesMaster" Target="/ppt/notesMasters/notesMaster1.xml" Id="R9832a135d31d4f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ea2323c12445ed" /><Relationship Type="http://schemas.openxmlformats.org/officeDocument/2006/relationships/notesMaster" Target="/ppt/notesMasters/notesMaster1.xml" Id="Rc0e145d2bb8c4f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401ced15574bfb" /><Relationship Type="http://schemas.openxmlformats.org/officeDocument/2006/relationships/notesMaster" Target="/ppt/notesMasters/notesMaster1.xml" Id="R29e3f393690341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698bf7dc674053" /><Relationship Type="http://schemas.openxmlformats.org/officeDocument/2006/relationships/notesMaster" Target="/ppt/notesMasters/notesMaster1.xml" Id="Rc7b3bb4bb49946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74988a75c243d6" /><Relationship Type="http://schemas.openxmlformats.org/officeDocument/2006/relationships/notesMaster" Target="/ppt/notesMasters/notesMaster1.xml" Id="R06ee189892a247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d99afca0fc433a" /><Relationship Type="http://schemas.openxmlformats.org/officeDocument/2006/relationships/notesMaster" Target="/ppt/notesMasters/notesMaster1.xml" Id="R181528f633a2473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ec40133f814f79" /><Relationship Type="http://schemas.openxmlformats.org/officeDocument/2006/relationships/notesMaster" Target="/ppt/notesMasters/notesMaster1.xml" Id="Rfb1aa2c15b68424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28d40dfd304519" /><Relationship Type="http://schemas.openxmlformats.org/officeDocument/2006/relationships/notesMaster" Target="/ppt/notesMasters/notesMaster1.xml" Id="Rf650dbfeb89046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6a191f100cf4108" /><Relationship Type="http://schemas.openxmlformats.org/officeDocument/2006/relationships/notesMaster" Target="/ppt/notesMasters/notesMaster1.xml" Id="Rb4fb21fe3184477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f943e872f24ff3" /><Relationship Type="http://schemas.openxmlformats.org/officeDocument/2006/relationships/notesMaster" Target="/ppt/notesMasters/notesMaster1.xml" Id="Rb2f143d1dde94f4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adf073ee274bcd" /><Relationship Type="http://schemas.openxmlformats.org/officeDocument/2006/relationships/notesMaster" Target="/ppt/notesMasters/notesMaster1.xml" Id="Rd0196a88c8d3496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bbcf09d1dcd463f" /><Relationship Type="http://schemas.openxmlformats.org/officeDocument/2006/relationships/notesMaster" Target="/ppt/notesMasters/notesMaster1.xml" Id="R5d16496aac0e4d7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69ab428b0d54645" /><Relationship Type="http://schemas.openxmlformats.org/officeDocument/2006/relationships/notesMaster" Target="/ppt/notesMasters/notesMaster1.xml" Id="R5b4f58413ae2422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dd70a71d3624dee" /><Relationship Type="http://schemas.openxmlformats.org/officeDocument/2006/relationships/notesMaster" Target="/ppt/notesMasters/notesMaster1.xml" Id="Rba91d8d73b414e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 ASIC 看成分工明确的系统。数字逻辑回答“什么时候开”，模拟驱动回答“开时流多少电流”，LED 的电气特性参与决定电压工作点。当前输出是仿真电流，不能直接标为实测亮度。Python 负责运行、桥接和检查；实际 PWM 来自 RTL，电流来自 MOS/LED 的 SPICE 求解。 条件：单像素；单向 digital→analog。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设计系统图: https://github.com/Kevin-Kaiyo/open-microled-driver-asic/blob/main/docs/design.md</a:t>
            </a:r>
          </a:p>
          <a:p xmlns:a="http://schemas.openxmlformats.org/drawingml/2006/main">
            <a:r>
              <a:t>runner: https://github.com/Kevin-Kaiyo/open-microled-driver-asic/blob/main/scripts/run_phase1.py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当前已经推进到 standalone 六 MOS analog cell：Magic DRC=0、Netgen unique match、GDS roundtrip 复核通过，七个 nets 全部 RC extraction 后完成配对电气回归。这只支持该 analog cell 与所选公开 deck 的结果。数字 PWM 的 synthesis/physical integration、pads/ESD、foundry signoff、硅片及光学实测仍未完成。FPGA 是未来外部 controller 候选，当前 RTL 使用 Icarus 执行。4×4 的 receiver、register map 与 pixel memory 尚未实现，先学习并完成这一个像素的完整接口责任。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单像素物理与RC回归: https://github.com/Kevin-Kaiyo/open-microled-driver-asic/blob/main/evidence/layout/summary.json</a:t>
            </a:r>
          </a:p>
          <a:p xmlns:a="http://schemas.openxmlformats.org/drawingml/2006/main">
            <a:r>
              <a:t>roadmap: https://github.com/Kevin-Kaiyo/open-microled-driver-asic/blob/main/docs/roadmap.md</a:t>
            </a:r>
          </a:p>
          <a:p xmlns:a="http://schemas.openxmlformats.org/drawingml/2006/main">
            <a:r>
              <a:t>当前layout: https://github.com/Kevin-Kaiyo/open-microled-driver-asic/blob/main/evidence/layout/layout.png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只改变 duty 时，理想情况下改变的是点亮时间，导通电流幅值由 reference/mirror 决定。平均电流近似等于时间比例乘导通电流，但真实边沿有电荷项。把电流转换为光还需要器件效率、温度、current density 和测量，这些尚未建模或测量。 练习：保持导通电流 100 µA，25% duty 的理想平均电流是多少？答案 25 µA；这只是预估，稍后用仿真积分核对。 条件：typical、27 °C、VLED=5 V、synthetic Vf=2.8 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brightness proxy: https://github.com/Kevin-Kaiyo/open-microled-driver-asic/blob/main/docs/design.md</a:t>
            </a:r>
          </a:p>
          <a:p xmlns:a="http://schemas.openxmlformats.org/drawingml/2006/main">
            <a:r>
              <a:t>metrics: https://github.com/Kevin-Kaiyo/open-microled-driver-asic/blob/main/evidence/phase1/metrics.csv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 控制与 drain/source 导电路径不是同一根线。`VSENSE` 为零伏电压源，用于读取 branch current，不在模型中额外产生压降。全开时还有 reference 支路电流，系统总耗电不能只用 LED current 表示。真实供电阻抗、pad、封装和互连都需要以后加入。 条件：ideal rails、ground、IREF；当前无走线 R/C。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pixel_driver.spice: https://github.com/Kevin-Kaiyo/open-microled-driver-asic/blob/main/analog/driver/pixel_driver.spice</a:t>
            </a:r>
          </a:p>
          <a:p xmlns:a="http://schemas.openxmlformats.org/drawingml/2006/main">
            <a:r>
              <a:t>make_deck: https://github.com/Kevin-Kaiyo/open-microled-driver-asic/blob/main/scripts/run_phase1.py</a:t>
            </a:r>
          </a:p>
          <a:p xmlns:a="http://schemas.openxmlformats.org/drawingml/2006/main">
            <a:r>
              <a:t>独立电路图: https://github.com/Kevin-Kaiyo/open-microled-driver-asic/blob/main/docs/research/driver-evidence.md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教学缩略图只用于手算，不是改变实际 RTL。PWM frequency 描述一帧重复的速率，clock frequency 描述数字计数的步速。1 MHz 与 256 是起始设计假设，不是由 MicroLED datasheet 推导出的最佳参数。最短非零脉冲为一 slot，也就是 1 µs。 练习：clock 改为 2 MHz 且仍为 256 slots，frame 多长？128 µs；频率 7812.5 Hz。此练习不改源码、不声称已验证。 条件：baseline 1 MHz / 256 slots。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pwm.md: https://github.com/Kevin-Kaiyo/open-microled-driver-asic/blob/main/docs/pwm.md</a:t>
            </a:r>
          </a:p>
          <a:p xmlns:a="http://schemas.openxmlformats.org/drawingml/2006/main">
            <a:r>
              <a:t>RTL: https://github.com/Kevin-Kaiyo/open-microled-driver-asic/blob/main/rtl/pixel_pwm.v</a:t>
            </a:r>
          </a:p>
          <a:p xmlns:a="http://schemas.openxmlformats.org/drawingml/2006/main">
            <a:r>
              <a:t>testbench: https://github.com/Kevin-Kaiyo/open-microled-driver-asic/blob/main/sim/rtl/tb_pixel_pwm.v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计数器寄存器保存“现在走到第几格”；组合比较器判断“是否还处于点亮范围”。零扩展 `{1'b0,counter}` 将 8-bit 计数值与 9-bit threshold 对齐。这里不用较复杂的通信知识也能读懂逻辑；后续接口只负责可靠地产生新的设定。 练习：用 8-slot 教学表、duty=3，写出输出：`11100000`。再回到真实 256-slot 代码。 条件：enable=1，帧内 active_duty 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pixel_pwm.v: https://github.com/Kevin-Kaiyo/open-microled-driver-asic/blob/main/rtl/pixel_pwm.v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 bits 能表示 0…255，不能表示 256。多一位用于全开端点，所以合法状态共 257 个；不能据此称为 512 级灰阶或 9-bit analog effective resolution。代码 clamp 的测试覆盖所有 255 个越界值。 条件：counter=0…255；duty 为 9-bit unsigned。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RTL: https://github.com/Kevin-Kaiyo/open-microled-driver-asic/blob/main/rtl/pixel_pwm.v</a:t>
            </a:r>
          </a:p>
          <a:p xmlns:a="http://schemas.openxmlformats.org/drawingml/2006/main">
            <a:r>
              <a:t>rtl-selfcheck.log: https://github.com/Kevin-Kaiyo/open-microled-driver-asic/blob/main/evidence/phase1/rtl-selfcheck.log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如果直接用帧中变化的 duty 作比较，当前脉冲可能被截短或重新打开。锁存把请求与正在执行的一帧分开。当前输入属于同一 clock domain，尚未实现异步通信的 CDC 或 handshake。多像素后会需要整帧 atomic commit，这是同一思想的扩展。 练习：在 counter=100 时把 duty 从 64 改为 192，当前帧会立刻变高吗？不会；下一 frame 才使用 192。 条件：输入满足同域时序假设；未证明物理 setup/hold。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更新与 reset: https://github.com/Kevin-Kaiyo/open-microled-driver-asic/blob/main/docs/pwm.md</a:t>
            </a:r>
          </a:p>
          <a:p xmlns:a="http://schemas.openxmlformats.org/drawingml/2006/main">
            <a:r>
              <a:t>RTL: https://github.com/Kevin-Kaiyo/open-microled-driver-asic/blob/main/rtl/pixel_pwm.v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reset 可以中断当前 frame，enable 的正常更新则等到下一 frame。同步 reset 之前，RTL 寄存器没有已定义的初始化值。当前不是安全保护关断设计：没有过流 comparator，也没有异步 fault path。逻辑仿真通过不等于综合后组合 PWM comparator 无毛刺，后续数字物理验证需要单独进行。 条件：rising-edge synchronous reset；未实现 fault feedback。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RTL: https://github.com/Kevin-Kaiyo/open-microled-driver-asic/blob/main/rtl/pixel_pwm.v</a:t>
            </a:r>
          </a:p>
          <a:p xmlns:a="http://schemas.openxmlformats.org/drawingml/2006/main">
            <a:r>
              <a:t>pwm.md: https://github.com/Kevin-Kaiyo/open-microled-driver-asic/blob/main/docs/pwm.md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逻辑 1 本身没有 3.3 V 的电气含义，bridge 显式加入这条假设。第一条已知 low 来自 500 ns reset，桥接把它向前延伸到 SPICE 0 ns，这是启动假设。10 ns 并非 standard-cell 测得的 slew，也不包含 pad、level shifter 或 drive strength。真正反馈联仿需要模拟检测改变 RTL 状态；当前只有单向 replay。 条件：10 ns slew、3.3 V amplitude；首个 frame=2.5 µs。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read_events / pwl_points: https://github.com/Kevin-Kaiyo/open-microled-driver-asic/blob/main/scripts/run_phase1.py</a:t>
            </a:r>
          </a:p>
          <a:p xmlns:a="http://schemas.openxmlformats.org/drawingml/2006/main">
            <a:r>
              <a:t>bridge tests: https://github.com/Kevin-Kaiyo/open-microled-driver-asic/blob/main/tests/test_bridge.py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mirror 复制的是 reference 定义的电流关系，不是无条件把任何 LED 电流锁死为 100 µA。XREF 把给定电流转换成所需 VGS。输出端 VDS 与参考端不同，PDK model 会包含由此产生的误差；当前未启用 mismatch。适合用这个最小电路学习 bias、工作区和非理想误差。 条件：1:1 W/L；external ideal IREF；无 cascode/feedback。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pixel_driver.spice: https://github.com/Kevin-Kaiyo/open-microled-driver-asic/blob/main/analog/driver/pixel_driver.spice</a:t>
            </a:r>
          </a:p>
          <a:p xmlns:a="http://schemas.openxmlformats.org/drawingml/2006/main">
            <a:r>
              <a:t>COCOA §5.3: https://bmurmann.github.io/COCOA/contents/partI/partI.5.html#current-mirrors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 维持近似恒流需要最低 compliance voltage，常称 headroom。长沟道近似可用 VDS ≥ VGS−VTH 来理解，但不能拿这个式子替代 BSIM 模型或可靠性检查。LED 的实际 Vf 会随电流改变，2.8 V 是 100 µA/27 °C 的锚定标签，不是固定电压源。 练习：暂按 Vf=2.8 V 手算：5 V→2.2 V 余量，2.9 V→0.1 V 余量。随后用 actual Vf 与电流核对，保留近似与仿真的差别。 条件：typical、27 °C、full-on；公式用于解释。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headroom 推导: https://github.com/Kevin-Kaiyo/open-microled-driver-asic/blob/main/docs/research/driver-evidence.md</a:t>
            </a:r>
          </a:p>
          <a:p xmlns:a="http://schemas.openxmlformats.org/drawingml/2006/main">
            <a:r>
              <a:t>summary: https://github.com/Kevin-Kaiyo/open-microled-driver-asic/blob/main/evidence/phase1/summary.json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 PDK 以 `X` subcircuit 调用，端序为 D、G、S、B，B 是 bulk/body。NMOS bulk 接 ground、PMOS bulk 接 vlogic 是当前 schematic 连接；到 layout 要实现 well/substrate ties。讲完读者应可以逐行读源码，并指出每个 net 去向。 条件：original nmos_6p0 / pmos_6p0；不是 full-PDK extracted netlist。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pixel_driver.spice: https://github.com/Kevin-Kaiyo/open-microled-driver-asic/blob/main/analog/driver/pixel_driver.spice</a:t>
            </a:r>
          </a:p>
          <a:p xmlns:a="http://schemas.openxmlformats.org/drawingml/2006/main">
            <a:r>
              <a:t>PDK lock: https://github.com/Kevin-Kaiyo/open-microled-driver-asic/blob/main/analog/models/pdk-lock.json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Clamp 不是装饰，它主动移除 gate charge。开关放在 gate 控制支路，LED 导通路径只有一个 XOUT，保留 headroom。Inverter 有有限延迟，pass 与 clamp 可能短暂同时导通；这种现象要从 gate/bias/pwm_b 波形判断，不能凭平均值说边沿完美。NMOS pass 能否传递 bias 还受 threshold/body effect 影响。 条件：Vlogic=3.3 V、10 ns input slew。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gate selection 选择理由: https://github.com/Kevin-Kaiyo/open-microled-driver-asic/blob/main/docs/research/driver-evidence.md</a:t>
            </a:r>
          </a:p>
          <a:p xmlns:a="http://schemas.openxmlformats.org/drawingml/2006/main">
            <a:r>
              <a:t>edge CSV: https://github.com/Kevin-Kaiyo/open-microled-driver-asic/blob/main/evidence/phase1/edge-duty064.csv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第一版工艺选择来自教学路径的电压域与器件需求，不是只记一个工艺名称。Phase 1 使用原始 nmos_6p0/pmos_6p0 model subset；当前物理流程使用完整 gf180mcuD，build hash为54435919abffb937387ec956209f9cf5fd2dfbee。Post-layout 的 schematic与RC提取网表都在这个 full PDK 下配对运行，不能把旧model subset与新版RC数值之差全归因于寄生。6 V器件标签不代表任意电压组合可靠或已达到foundry signoff。真实LED、IO与MPW要求仍可能改变最终选择。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Phase1模型锁定: https://github.com/Kevin-Kaiyo/open-microled-driver-asic/blob/main/analog/models/pdk-lock.json</a:t>
            </a:r>
          </a:p>
          <a:p xmlns:a="http://schemas.openxmlformats.org/drawingml/2006/main">
            <a:r>
              <a:t>full PDK和tool pin: https://github.com/Kevin-Kaiyo/open-microled-driver-asic/blob/main/scripts/layout/bootstrap_macos.sh</a:t>
            </a:r>
          </a:p>
          <a:p xmlns:a="http://schemas.openxmlformats.org/drawingml/2006/main">
            <a:r>
              <a:t>物理回归模型边界: https://github.com/Kevin-Kaiyo/open-microled-driver-asic/blob/main/evidence/layout/summary.json</a:t>
            </a:r>
          </a:p>
          <a:p xmlns:a="http://schemas.openxmlformats.org/drawingml/2006/main">
            <a:r>
              <a:t>GF180 MOS device list: https://gf180mcu-pdk.readthedocs.io/en/latest/analog/model_parameters/LV/LV_1_4_1.html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尺寸是 baseline 假设，尚未针对面积、速度、mismatch 或功耗优化。较长 L 常用于降低输出电压影响，也增加面积/电容；该趋势需以具体 sweep 量化。原始 model 用米表达 W/L，`10u` 是 10 µm，不能与某些 open_pdks wrapper 的 µm 单位约定混用。PMOS 4 µm 宽度是起始 sizing，不能直接称成最优或平衡 rise/fall。 条件：original model units；ideal current reference 未实现片上电路。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driver netlist: https://github.com/Kevin-Kaiyo/open-microled-driver-asic/blob/main/analog/driver/pixel_driver.spice</a:t>
            </a:r>
          </a:p>
          <a:p xmlns:a="http://schemas.openxmlformats.org/drawingml/2006/main">
            <a:r>
              <a:t>pdk-lock.json: https://github.com/Kevin-Kaiyo/open-microled-driver-asic/blob/main/analog/models/pdk-lock.json</a:t>
            </a:r>
          </a:p>
          <a:p xmlns:a="http://schemas.openxmlformats.org/drawingml/2006/main">
            <a:r>
              <a:t>runner: https://github.com/Kevin-Kaiyo/open-microled-driver-asic/blob/main/scripts/run_phase1.py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第一版选择 six-MOS baseline 是为了能按器件学习并推进 layout。升级要由问题触发：例如 pre/post-layout 显示电流偏差大、低 duty settling 不足或阵列 reference fanout 过重，再设计相应改进。当前模型的 Vf 三点电流变化不大，不等于已经解决真实像素一致性。 条件：工程判断与教学趋势；非商业性能结论。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baseline 比较: https://github.com/Kevin-Kaiyo/open-microled-driver-asic/blob/main/docs/research/driver-evidence.md</a:t>
            </a:r>
          </a:p>
          <a:p xmlns:a="http://schemas.openxmlformats.org/drawingml/2006/main">
            <a:r>
              <a:t>COCOA §5.3: https://bmurmann.github.io/COCOA/contents/partI/partI.5.html#current-mirrors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这些参数由本项目独立设置，尚未拟合真实样品。CJO 不是所有偏压下固定 2 pF；TT 不是实测光学 rise time；EG 不能用于宣布材料颜色。当前无颜色、面积、current density、EQE、自热、aging 或封装参数。默认 Vf=2.8 V，变体 2.4/3.2 V 都是 synthetic load。 条件：所有 LED 参数均 synthetic。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microled.spice: https://github.com/Kevin-Kaiyo/open-microled-driver-asic/blob/main/analog/models/microled.spice</a:t>
            </a:r>
          </a:p>
          <a:p xmlns:a="http://schemas.openxmlformats.org/drawingml/2006/main">
            <a:r>
              <a:t>ngspice 47 manual §7.2: https://ngspice.sourceforge.io/docs/ngspice-47-manual.pdf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曾出现 N=2.2 时计算的 IS 过小、simulator 下限处理使不同 target 变为相同曲线的问题。干净日志无法替代独立 operating-point 检查。最终 N=3 是为了当前教育性模型与数值范围一致，不是从真实器件提取出的 ideality factor。DC 校准只证明本模型在一个规定点执行正确。 条件：27 °C / 100 µA；不证明全 I–V/温度范围。 先定义 VT=(k/q)T，再由 Vf=N·VT·ln(I/IS+1)+I·RS 反求 IS；I=100 µA、T=300.15 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led_calibration evidence: https://github.com/Kevin-Kaiyo/open-microled-driver-asic/blob/main/evidence/phase1/led-calibration.json</a:t>
            </a:r>
          </a:p>
          <a:p xmlns:a="http://schemas.openxmlformats.org/drawingml/2006/main">
            <a:r>
              <a:t>led_is / calibrate_led: https://github.com/Kevin-Kaiyo/open-microled-driver-asic/blob/main/scripts/run_phase1.py</a:t>
            </a:r>
          </a:p>
          <a:p xmlns:a="http://schemas.openxmlformats.org/drawingml/2006/main">
            <a:r>
              <a:t>已记录的故障: https://github.com/Kevin-Kaiyo/open-microled-driver-asic/blob/main/docs/verification.md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当前已验证 Mac arm64、Python 3.12.13、Icarus 13.0、ngspice 47。新机器应先按 environment.md 安装并记录实际版本；Homebrew formula 没有固定 native binary。`build/` 是可再生的完整本地输出，`evidence/` 是紧凑公开证据。只看到图不能验收，必须核对 exit status、summary checks 与原始数据。 练习：先跑 `make test`，在 RTL log 找到 518 frames 与 133159 checks；再跑 sim，找 `duty_064` 的 events.csv 与 testbench.spice。 条件：工具已安装、首次 model acquisition 需网络。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Makefile: https://github.com/Kevin-Kaiyo/open-microled-driver-asic/blob/main/Makefile</a:t>
            </a:r>
          </a:p>
          <a:p xmlns:a="http://schemas.openxmlformats.org/drawingml/2006/main">
            <a:r>
              <a:t>environment: https://github.com/Kevin-Kaiyo/open-microled-driver-asic/blob/main/docs/environment.md</a:t>
            </a:r>
          </a:p>
          <a:p xmlns:a="http://schemas.openxmlformats.org/drawingml/2006/main">
            <a:r>
              <a:t>uv.lock: https://github.com/Kevin-Kaiyo/open-microled-driver-asic/blob/main/uv.lock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Runner 插值到精确窗口边界后进行 trapezoidal integration，同时核对 RTL 报告的 frame/window，防止修改时钟后继续用旧时间窗。Plateau current 是排除每个 edge 后 100 ns 的 on-state 中位数；不能代替整帧面积。公开 uniform CSV 是 200 ns 插值 view，原始 adaptive waveform.dat 保存在可再生 build 中。 条件：4 complete frames；max timestep=200 ns baseline。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windowed / average: https://github.com/Kevin-Kaiyo/open-microled-driver-asic/blob/main/scripts/run_phase1.py</a:t>
            </a:r>
          </a:p>
          <a:p xmlns:a="http://schemas.openxmlformats.org/drawingml/2006/main">
            <a:r>
              <a:t>verification: https://github.com/Kevin-Kaiyo/open-microled-driver-asic/blob/main/docs/verification.md</a:t>
            </a:r>
          </a:p>
          <a:p xmlns:a="http://schemas.openxmlformats.org/drawingml/2006/main">
            <a:r>
              <a:t>waveform CSV: https://github.com/Kevin-Kaiyo/open-microled-driver-asic/blob/main/evidence/phase1/waveform-duty064.csv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对照值是 D×measured full-on average，不是 D×ideal 100 µA。Simple mirror output 略高于 IREF，不能将 nominal linearity 当作绝对 current accuracy。门限为 max(0.01 µA, expected×3%)，属教育性 regression criterion。Off 约 3.61 pA 是模型输出，不能将之承诺为实物 leakage。 练习：计算 101.29959×0.25=25.32490 µA，与 measured 25.32414 µA 比较，差约 0.00076 µA。 条件：typical、27 °C、VLED=5 V、IREF=100 µA、synthetic Vf=2.8 V、4 frames。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summary: https://github.com/Kevin-Kaiyo/open-microled-driver-asic/blob/main/evidence/phase1/summary.json</a:t>
            </a:r>
          </a:p>
          <a:p xmlns:a="http://schemas.openxmlformats.org/drawingml/2006/main">
            <a:r>
              <a:t>metrics: https://github.com/Kevin-Kaiyo/open-microled-driver-asic/blob/main/evidence/phase1/metrics.csv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V 三点 spread 约 1.04%，但它只说明当前模型与条件。2.9 V case actual Vf≈2.74273 V、VDS≈0.15727 V，电流约为 nominal 的 48.75%。回归要求低于 nominal 90%，目的是确认模型能暴露 compliance 不足。3.0/3.3 V 也保留在 metrics。FF/SS 与 0/85 °C 是 full-on pilot cases，未覆盖完整 PVT×duty×Vf 组合。 条件：typical、27 °C，除特别标记外；Vf label 由 100 µA DC 校准定义。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summary: https://github.com/Kevin-Kaiyo/open-microled-driver-asic/blob/main/evidence/phase1/summary.json</a:t>
            </a:r>
          </a:p>
          <a:p xmlns:a="http://schemas.openxmlformats.org/drawingml/2006/main">
            <a:r>
              <a:t>metrics: https://github.com/Kevin-Kaiyo/open-microled-driver-asic/blob/main/evidence/phase1/metrics.csv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短暂负电流或 overshoot 可以由电容充放电产生，不等于出现“负光”或更亮光峰。当前 runner 未单独提取 conduction current。Duty=1/64 用 200 ns 与 20 ns maximum timestep 比较，积分相对变化低于 0.5% 门限；不能把此结论扩大到所有 transient peak 的收敛或电压应力检查。 练习：先在图上识别 gate 被 clamp 拉低的时刻，再查看 bias 有没有短暂 droop，不用只盯 average current。 条件：typical、27 °C、5 V、duty=64；有限 10 ns control edge。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edge-duty064.csv: https://github.com/Kevin-Kaiyo/open-microled-driver-asic/blob/main/evidence/phase1/edge-duty064.csv</a:t>
            </a:r>
          </a:p>
          <a:p xmlns:a="http://schemas.openxmlformats.org/drawingml/2006/main">
            <a:r>
              <a:t>summary: https://github.com/Kevin-Kaiyo/open-microled-driver-asic/blob/main/evidence/phase1/summary.json</a:t>
            </a:r>
          </a:p>
          <a:p xmlns:a="http://schemas.openxmlformats.org/drawingml/2006/main">
            <a:r>
              <a:t>verification: https://github.com/Kevin-Kaiyo/open-microled-driver-asic/blob/main/docs/verification.md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不要把不同证据层次合成一个通过数字。旧Phase1有19个coupled transistor runs，另有3个独立LED DC校准；新full-PDK回归为17条件×2variants=34，再加仅RC variant的duty1/64两次50ns finer-step runs，共36 transient与3 LED DC。19 guards包括17个配对电流差检查和2个RC积分收敛检查。Standalone cell另有DRC0、LVS unique match与GDS roundtrip复核。这些不建立full PVT、Monte Carlo、数字timing closure或foundry signoff；两个PDK版本分别锁定。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RTL selfcheck: https://github.com/Kevin-Kaiyo/open-microled-driver-asic/blob/main/evidence/phase1/rtl-selfcheck.log</a:t>
            </a:r>
          </a:p>
          <a:p xmlns:a="http://schemas.openxmlformats.org/drawingml/2006/main">
            <a:r>
              <a:t>Phase1 summary: https://github.com/Kevin-Kaiyo/open-microled-driver-asic/blob/main/evidence/phase1/summary.json</a:t>
            </a:r>
          </a:p>
          <a:p xmlns:a="http://schemas.openxmlformats.org/drawingml/2006/main">
            <a:r>
              <a:t>full-PDK paired summary: https://github.com/Kevin-Kaiyo/open-microled-driver-asic/blob/main/evidence/layout/summary.json</a:t>
            </a:r>
          </a:p>
          <a:p xmlns:a="http://schemas.openxmlformats.org/drawingml/2006/main">
            <a:r>
              <a:t>postlayout回归实现: https://github.com/Kevin-Kaiyo/open-microled-driver-asic/blob/main/scripts/layout/run_postlayout.py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先定义每个检查回答的问题：DRC检查所选deck的几何规则，LVS核对器件、尺寸与连接，PEX提取寄生后才进行post-layout电气对照。当前Magic 8.3.684得到DRC=0，Netgen 1.5.324得到Circuits match uniquely；GDS重新导入后两项再次通过。Magic RC extraction覆盖7/7nets，产生六MOS、59个R与43个C；full-PDK配对回归36transient+3DC、19guards通过。公开deck结果不替代foundry signoff，数字PWM physical integration、pads/ESD与实测尚未完成。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physical checks与计数: https://github.com/Kevin-Kaiyo/open-microled-driver-asic/blob/main/evidence/layout/summary.json</a:t>
            </a:r>
          </a:p>
          <a:p xmlns:a="http://schemas.openxmlformats.org/drawingml/2006/main">
            <a:r>
              <a:t>Magic DRC日志: https://github.com/Kevin-Kaiyo/open-microled-driver-asic/blob/main/evidence/layout/magic-generate.log</a:t>
            </a:r>
          </a:p>
          <a:p xmlns:a="http://schemas.openxmlformats.org/drawingml/2006/main">
            <a:r>
              <a:t>Netgen LVS日志: https://github.com/Kevin-Kaiyo/open-microled-driver-asic/blob/main/evidence/layout/netgen-lvs.log</a:t>
            </a:r>
          </a:p>
          <a:p xmlns:a="http://schemas.openxmlformats.org/drawingml/2006/main">
            <a:r>
              <a:t>GDS roundtrip DRC: https://github.com/Kevin-Kaiyo/open-microled-driver-asic/blob/main/evidence/layout/magic-roundtrip.log</a:t>
            </a:r>
          </a:p>
          <a:p xmlns:a="http://schemas.openxmlformats.org/drawingml/2006/main">
            <a:r>
              <a:t>GDS roundtrip LVS: https://github.com/Kevin-Kaiyo/open-microled-driver-asic/blob/main/evidence/layout/netgen-roundtrip-lvs.log</a:t>
            </a:r>
          </a:p>
          <a:p xmlns:a="http://schemas.openxmlformats.org/drawingml/2006/main">
            <a:r>
              <a:t>Magic RC extraction: https://github.com/Kevin-Kaiyo/open-microled-driver-asic/blob/main/evidence/layout/magic-pex.log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用真实layout图对照第13页连接表，追踪bias、gate、led_k、pwm_b与body供电连接。Schematic符号最终需要well/substrate ties、contacts和metal实现；截图不能替代LVS网表。Post-layout比较必须固定同一full PDK：typical、27°C、VLED5V、Vlogic3.3V、IREF100µA、synthetic Vf2.8V，测量四个完整frames。全开平均电流由101.29959µA变为101.23651µA（−0.06227%）；quarter-duty为25.30824µA。此结果解释这块cell的提取寄生影响，不保证像素mismatch、阵列IR drop或实测精度。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真实layout图: https://github.com/Kevin-Kaiyo/open-microled-driver-asic/blob/main/evidence/layout/layout.png</a:t>
            </a:r>
          </a:p>
          <a:p xmlns:a="http://schemas.openxmlformats.org/drawingml/2006/main">
            <a:r>
              <a:t>Magic source: https://github.com/Kevin-Kaiyo/open-microled-driver-asic/blob/main/layout/pixel_driver_layout.mag</a:t>
            </a:r>
          </a:p>
          <a:p xmlns:a="http://schemas.openxmlformats.org/drawingml/2006/main">
            <a:r>
              <a:t>extracted RC netlist: https://github.com/Kevin-Kaiyo/open-microled-driver-asic/blob/main/evidence/layout/pixel_driver_rc.spice</a:t>
            </a:r>
          </a:p>
          <a:p xmlns:a="http://schemas.openxmlformats.org/drawingml/2006/main">
            <a:r>
              <a:t>full-PDK paired current: https://github.com/Kevin-Kaiyo/open-microled-driver-asic/blob/main/evidence/layout/summary.json</a:t>
            </a:r>
          </a:p>
          <a:p xmlns:a="http://schemas.openxmlformats.org/drawingml/2006/main">
            <a:r>
              <a:t>postlayout日志: https://github.com/Kevin-Kaiyo/open-microled-driver-asic/blob/main/evidence/layout/postlayout-regression.log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这是下一阶段概念，没有已实现 register map 或商业协议。若直接保存本项目 0…256 duty encoding，需要 16×9=144 bits，enable 可以另设；未来也可独立设计 8-bit brightness code 的映射，两者需明确。若 all-on electrical current 仅按 baseline 粗估，16×101.3 µA≈1.62 mA，只是 LED 支路预算，不含 reference/logic，更不构成阵列验证。先完成单像素物理退出条件，再定义可执行的 4×4 接口与预算。 练习：在 4×4 图上选 pixel (row=2,col=1)，列出一次更新需要的“地址、数据、提交时刻”，暂不指定通信位序。下一阶段再把它写成独立 protocol spec 与 testbench。 条件：全页为后续概念/预算；先单像素 layout，未实现 4×4。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公开来源</a:t>
            </a:r>
          </a:p>
          <a:p xmlns:a="http://schemas.openxmlformats.org/drawingml/2006/main">
            <a:r>
              <a:t>4×4 exit criteria: https://github.com/Kevin-Kaiyo/open-microled-driver-asic/blob/main/docs/roadmap.md</a:t>
            </a:r>
          </a:p>
          <a:p xmlns:a="http://schemas.openxmlformats.org/drawingml/2006/main">
            <a:r>
              <a:t>长期概念: https://github.com/Kevin-Kaiyo/open-microled-driver-asic/blob/main/docs/design.md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版本日期：2026-10-03。设计参数为本项目公开假设，MicroLED 模型为 synthetic。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29c28670f4d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e479bc0e149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70d59125447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2ff369e7845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f44b2619a43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5e784f7a343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77E69E-85F4-41C8-8EBF-4686A357C0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B4339C-1D70-4DC1-972C-0D3CBA42DF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B0E5F6-F953-424A-9049-65930840D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EF5925-3DE1-4D01-8090-14C1F0E41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8EB6AE-4CA7-4294-94C8-BFE18A8B07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FD1D72-5CFF-4603-AB5B-E162340253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BA490C-0849-4ED1-8675-8B19779B2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F4C264-078D-4A12-909C-4A6345BA3E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579F94-4744-4E83-B8D2-A50DC731E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60A2B4-7D70-426A-A3CD-0D4D6D0B8F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c69997a054b4d" /><Relationship Type="http://schemas.openxmlformats.org/officeDocument/2006/relationships/slideLayout" Target="/ppt/slideLayouts/slideLayout1.xml" Id="R51c66a5a61264675" /><Relationship Type="http://schemas.openxmlformats.org/officeDocument/2006/relationships/slideLayout" Target="/ppt/slideLayouts/slideLayout2.xml" Id="Rfd4246c243da4cec" /><Relationship Type="http://schemas.openxmlformats.org/officeDocument/2006/relationships/slideLayout" Target="/ppt/slideLayouts/slideLayout3.xml" Id="R9b6670f212a040c2" /><Relationship Type="http://schemas.openxmlformats.org/officeDocument/2006/relationships/slideLayout" Target="/ppt/slideLayouts/slideLayout4.xml" Id="Rd6a2c222bf744be5" /><Relationship Type="http://schemas.openxmlformats.org/officeDocument/2006/relationships/slideLayout" Target="/ppt/slideLayouts/slideLayout5.xml" Id="R0b185f13cdd94fee" /><Relationship Type="http://schemas.openxmlformats.org/officeDocument/2006/relationships/slideLayout" Target="/ppt/slideLayouts/slideLayout6.xml" Id="R80e2817da17449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c66a5a61264675"/>
    <p:sldLayoutId xmlns:r="http://schemas.openxmlformats.org/officeDocument/2006/relationships" id="2147483650" r:id="Rfd4246c243da4cec"/>
    <p:sldLayoutId xmlns:r="http://schemas.openxmlformats.org/officeDocument/2006/relationships" id="2147483651" r:id="R9b6670f212a040c2"/>
    <p:sldLayoutId xmlns:r="http://schemas.openxmlformats.org/officeDocument/2006/relationships" id="2147483652" r:id="Rd6a2c222bf744be5"/>
    <p:sldLayoutId xmlns:r="http://schemas.openxmlformats.org/officeDocument/2006/relationships" id="2147483653" r:id="R0b185f13cdd94fee"/>
    <p:sldLayoutId xmlns:r="http://schemas.openxmlformats.org/officeDocument/2006/relationships" id="2147483654" r:id="R80e2817da17449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b92d2dc1b4503" /><Relationship Type="http://schemas.openxmlformats.org/officeDocument/2006/relationships/notesSlide" Target="/ppt/notesSlides/notesSlide1.xml" Id="R43ac0e9a7c2646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1364afb5af4040" /><Relationship Type="http://schemas.openxmlformats.org/officeDocument/2006/relationships/notesSlide" Target="/ppt/notesSlides/notesSlide2.xml" Id="R5438f2a21ba742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13e031a8b64ca8" /><Relationship Type="http://schemas.openxmlformats.org/officeDocument/2006/relationships/notesSlide" Target="/ppt/notesSlides/notesSlide3.xml" Id="R59481bec9cec4c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7279e61044163" /><Relationship Type="http://schemas.openxmlformats.org/officeDocument/2006/relationships/notesSlide" Target="/ppt/notesSlides/notesSlide4.xml" Id="R51efa99942b741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eece79a6c4cbc" /><Relationship Type="http://schemas.openxmlformats.org/officeDocument/2006/relationships/notesSlide" Target="/ppt/notesSlides/notesSlide5.xml" Id="R971e2c6179a04d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0a3977a4ca41d8" /><Relationship Type="http://schemas.openxmlformats.org/officeDocument/2006/relationships/notesSlide" Target="/ppt/notesSlides/notesSlide6.xml" Id="Rc5f5074169624e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1a6638142f4de9" /><Relationship Type="http://schemas.openxmlformats.org/officeDocument/2006/relationships/notesSlide" Target="/ppt/notesSlides/notesSlide7.xml" Id="R68f4ac69bb9141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9ad82ff694a0f" /><Relationship Type="http://schemas.openxmlformats.org/officeDocument/2006/relationships/notesSlide" Target="/ppt/notesSlides/notesSlide8.xml" Id="R88cbf3eb03fe4b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4c07b6f014da8" /><Relationship Type="http://schemas.openxmlformats.org/officeDocument/2006/relationships/notesSlide" Target="/ppt/notesSlides/notesSlide9.xml" Id="R72fd8fb3f12f45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381d7cf3e4e82" /><Relationship Type="http://schemas.openxmlformats.org/officeDocument/2006/relationships/notesSlide" Target="/ppt/notesSlides/notesSlide10.xml" Id="R6affac8682a343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d1d1d86d04e74" /><Relationship Type="http://schemas.openxmlformats.org/officeDocument/2006/relationships/notesSlide" Target="/ppt/notesSlides/notesSlide11.xml" Id="Rf893231fee2f41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f6552e736b4113" /><Relationship Type="http://schemas.openxmlformats.org/officeDocument/2006/relationships/notesSlide" Target="/ppt/notesSlides/notesSlide12.xml" Id="R50f6bf97f97545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b9bb5fb714292" /><Relationship Type="http://schemas.openxmlformats.org/officeDocument/2006/relationships/notesSlide" Target="/ppt/notesSlides/notesSlide13.xml" Id="R23ae0494a00545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0b03024e446a3" /><Relationship Type="http://schemas.openxmlformats.org/officeDocument/2006/relationships/notesSlide" Target="/ppt/notesSlides/notesSlide14.xml" Id="R7d2fd4c4ee084b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1f095d8d74544" /><Relationship Type="http://schemas.openxmlformats.org/officeDocument/2006/relationships/notesSlide" Target="/ppt/notesSlides/notesSlide15.xml" Id="R248437bf410842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aff400e924259" /><Relationship Type="http://schemas.openxmlformats.org/officeDocument/2006/relationships/notesSlide" Target="/ppt/notesSlides/notesSlide16.xml" Id="R587cc74584ef4f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2829bf25e84fa0" /><Relationship Type="http://schemas.openxmlformats.org/officeDocument/2006/relationships/notesSlide" Target="/ppt/notesSlides/notesSlide17.xml" Id="R9eb0220c691341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947dd15814d7b" /><Relationship Type="http://schemas.openxmlformats.org/officeDocument/2006/relationships/notesSlide" Target="/ppt/notesSlides/notesSlide18.xml" Id="R7ea85721e7cd438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5a23ecb494348" /><Relationship Type="http://schemas.openxmlformats.org/officeDocument/2006/relationships/notesSlide" Target="/ppt/notesSlides/notesSlide19.xml" Id="Rc9107a2abc3744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5ad2e944b4ca8" /><Relationship Type="http://schemas.openxmlformats.org/officeDocument/2006/relationships/notesSlide" Target="/ppt/notesSlides/notesSlide20.xml" Id="Rb987509441f847c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c43bbda8914875" /><Relationship Type="http://schemas.openxmlformats.org/officeDocument/2006/relationships/notesSlide" Target="/ppt/notesSlides/notesSlide21.xml" Id="R9945a4608a4e405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063d0609e4494" /><Relationship Type="http://schemas.openxmlformats.org/officeDocument/2006/relationships/chart" Target="/ppt/slides/charts/chart1.xml" Id="R4b3705c524eb4e25" /><Relationship Type="http://schemas.openxmlformats.org/officeDocument/2006/relationships/notesSlide" Target="/ppt/notesSlides/notesSlide22.xml" Id="Rc05b0596283444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c46eb8b644fa0" /><Relationship Type="http://schemas.openxmlformats.org/officeDocument/2006/relationships/chart" Target="/ppt/slides/charts/chart2.xml" Id="R3cc9abe1abe64b72" /><Relationship Type="http://schemas.openxmlformats.org/officeDocument/2006/relationships/chart" Target="/ppt/slides/charts/chart3.xml" Id="Re034e8bf03a64203" /><Relationship Type="http://schemas.openxmlformats.org/officeDocument/2006/relationships/notesSlide" Target="/ppt/notesSlides/notesSlide23.xml" Id="Rbab60aa2bd9f401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f49bd6f35483d" /><Relationship Type="http://schemas.openxmlformats.org/officeDocument/2006/relationships/chart" Target="/ppt/slides/charts/chart4.xml" Id="R976f3e4ba1064ec0" /><Relationship Type="http://schemas.openxmlformats.org/officeDocument/2006/relationships/notesSlide" Target="/ppt/notesSlides/notesSlide24.xml" Id="Rbf78a59252fa4b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df3db931a465d" /><Relationship Type="http://schemas.openxmlformats.org/officeDocument/2006/relationships/notesSlide" Target="/ppt/notesSlides/notesSlide25.xml" Id="Rf2e39aa5a03c428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084009ed214061" /><Relationship Type="http://schemas.openxmlformats.org/officeDocument/2006/relationships/notesSlide" Target="/ppt/notesSlides/notesSlide26.xml" Id="Rfc6239bbc6b5447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49f3f0eb64761" /><Relationship Type="http://schemas.openxmlformats.org/officeDocument/2006/relationships/image" Target="/ppt/media/image.png" Id="R51fc88d297a54a87" /><Relationship Type="http://schemas.openxmlformats.org/officeDocument/2006/relationships/notesSlide" Target="/ppt/notesSlides/notesSlide27.xml" Id="Rc3acaff898e2448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6f5a602b74775" /><Relationship Type="http://schemas.openxmlformats.org/officeDocument/2006/relationships/notesSlide" Target="/ppt/notesSlides/notesSlide28.xml" Id="Re3771ec72b6e4cfb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仿真平均电流</c:v>
          </c:tx>
          <c:spPr>
            <a:ln xmlns:a="http://schemas.openxmlformats.org/drawingml/2006/main" w="23813">
              <a:solidFill>
                <a:srgbClr val="247E7A"/>
              </a:solidFill>
            </a:ln>
          </c:spPr>
          <c:marker>
            <c:symbol val="circle"/>
            <c:size val="6"/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0.39062500000000955</c:v>
              </c:pt>
              <c:pt idx="2">
                <c:v>25.000000000000018</c:v>
              </c:pt>
              <c:pt idx="3">
                <c:v>50.000000000000036</c:v>
              </c:pt>
              <c:pt idx="4">
                <c:v>75.00000000000003</c:v>
              </c:pt>
              <c:pt idx="5">
                <c:v>99.60937500000001</c:v>
              </c:pt>
              <c:pt idx="6">
                <c:v>100</c:v>
              </c:pt>
            </c:numLit>
          </c:xVal>
          <c:yVal>
            <c:numLit>
              <c:formatCode>General</c:formatCode>
              <c:ptCount val="7"/>
              <c:pt idx="0">
                <c:v>3.6092941100000008E-06</c:v>
              </c:pt>
              <c:pt idx="1">
                <c:v>0.39494314517379125</c:v>
              </c:pt>
              <c:pt idx="2">
                <c:v>25.32413710570606</c:v>
              </c:pt>
              <c:pt idx="3">
                <c:v>50.649031794969375</c:v>
              </c:pt>
              <c:pt idx="4">
                <c:v>75.97392413687061</c:v>
              </c:pt>
              <c:pt idx="5">
                <c:v>100.90309797038152</c:v>
              </c:pt>
              <c:pt idx="6">
                <c:v>101.2995936994115</c:v>
              </c:pt>
            </c:numLit>
          </c:yVal>
        </c:ser>
        <c:ser>
          <c:idx val="1"/>
          <c:order val="1"/>
          <c:tx>
            <c:v>Duty × 全开平均</c:v>
          </c:tx>
          <c:spPr>
            <a:ln xmlns:a="http://schemas.openxmlformats.org/drawingml/2006/main" w="23813">
              <a:solidFill>
                <a:srgbClr val="62777D"/>
              </a:solidFill>
            </a:ln>
          </c:spPr>
          <c:marker>
            <c:symbol val="none"/>
            <c:size val="6"/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0.39062500000000955</c:v>
              </c:pt>
              <c:pt idx="2">
                <c:v>25.000000000000018</c:v>
              </c:pt>
              <c:pt idx="3">
                <c:v>50.000000000000036</c:v>
              </c:pt>
              <c:pt idx="4">
                <c:v>75.00000000000003</c:v>
              </c:pt>
              <c:pt idx="5">
                <c:v>99.60937500000001</c:v>
              </c:pt>
              <c:pt idx="6">
                <c:v>100</c:v>
              </c:pt>
            </c:numLit>
          </c:xVal>
          <c:yVal>
            <c:numLit>
              <c:formatCode>General</c:formatCode>
              <c:ptCount val="7"/>
              <c:pt idx="0">
                <c:v>0</c:v>
              </c:pt>
              <c:pt idx="1">
                <c:v>0.39570153788833584</c:v>
              </c:pt>
              <c:pt idx="2">
                <c:v>25.324898424852893</c:v>
              </c:pt>
              <c:pt idx="3">
                <c:v>50.64979684970579</c:v>
              </c:pt>
              <c:pt idx="4">
                <c:v>75.97469527455866</c:v>
              </c:pt>
              <c:pt idx="5">
                <c:v>100.9038921615232</c:v>
              </c:pt>
              <c:pt idx="6">
                <c:v>101.2995936994115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8E3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93444"/>
                    </a:solidFill>
                    <a:latin typeface="PingFang SC"/>
                    <a:ea typeface="PingFang SC"/>
                    <a:cs typeface="PingFang SC"/>
                  </a:rPr>
                  <a:t>平均 LED branch current，µA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93444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3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93444"/>
                    </a:solidFill>
                    <a:latin typeface="PingFang SC"/>
                    <a:ea typeface="PingFang SC"/>
                    <a:cs typeface="PingFang SC"/>
                  </a:rPr>
                  <a:t>Duty，%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93444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93444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Vf sweep</c:v>
          </c:tx>
          <c:spPr>
            <a:ln xmlns:a="http://schemas.openxmlformats.org/drawingml/2006/main" w="23813">
              <a:solidFill>
                <a:srgbClr val="247E7A"/>
              </a:solidFill>
            </a:ln>
          </c:spPr>
          <c:marker>
            <c:symbol val="circle"/>
            <c:size val="6"/>
          </c:marker>
          <c:xVal>
            <c:numLit>
              <c:formatCode>General</c:formatCode>
              <c:ptCount val="3"/>
              <c:pt idx="0">
                <c:v>2.4</c:v>
              </c:pt>
              <c:pt idx="1">
                <c:v>2.8</c:v>
              </c:pt>
              <c:pt idx="2">
                <c:v>3.2</c:v>
              </c:pt>
            </c:numLit>
          </c:xVal>
          <c:yVal>
            <c:numLit>
              <c:formatCode>General</c:formatCode>
              <c:ptCount val="3"/>
              <c:pt idx="0">
                <c:v>101.79006079463858</c:v>
              </c:pt>
              <c:pt idx="1">
                <c:v>101.2995936994115</c:v>
              </c:pt>
              <c:pt idx="2">
                <c:v>100.73380798189757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2"/>
          <c:min val="99.8"/>
        </c:scaling>
        <c:delete val="0"/>
        <c:axPos val="l"/>
        <c:majorGridlines>
          <c:spPr>
            <a:ln xmlns:a="http://schemas.openxmlformats.org/drawingml/2006/main" w="4763">
              <a:solidFill>
                <a:srgbClr val="D8E3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93444"/>
                    </a:solidFill>
                    <a:latin typeface="PingFang SC"/>
                    <a:ea typeface="PingFang SC"/>
                    <a:cs typeface="PingFang SC"/>
                  </a:rPr>
                  <a:t>全开电流，µA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93444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</c:valAx>
      <c:valAx>
        <c:axId val="48650112"/>
        <c:scaling>
          <c:orientation val="minMax"/>
          <c:max val="3.3"/>
          <c:min val="2.3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3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93444"/>
                    </a:solidFill>
                    <a:latin typeface="PingFang SC"/>
                    <a:ea typeface="PingFang SC"/>
                    <a:cs typeface="PingFang SC"/>
                  </a:rPr>
                  <a:t>合成 Vf @100 µA，V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93444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Supply sweep</c:v>
          </c:tx>
          <c:spPr>
            <a:ln xmlns:a="http://schemas.openxmlformats.org/drawingml/2006/main" w="23813">
              <a:solidFill>
                <a:srgbClr val="247E7A"/>
              </a:solidFill>
            </a:ln>
          </c:spPr>
          <c:marker>
            <c:symbol val="circle"/>
            <c:size val="6"/>
          </c:marker>
          <c:xVal>
            <c:numLit>
              <c:formatCode>General</c:formatCode>
              <c:ptCount val="4"/>
              <c:pt idx="0">
                <c:v>2.9</c:v>
              </c:pt>
              <c:pt idx="1">
                <c:v>3</c:v>
              </c:pt>
              <c:pt idx="2">
                <c:v>3.3</c:v>
              </c:pt>
              <c:pt idx="3">
                <c:v>5</c:v>
              </c:pt>
            </c:numLit>
          </c:xVal>
          <c:yVal>
            <c:numLit>
              <c:formatCode>General</c:formatCode>
              <c:ptCount val="4"/>
              <c:pt idx="0">
                <c:v>49.387353038152</c:v>
              </c:pt>
              <c:pt idx="1">
                <c:v>66.51286949100401</c:v>
              </c:pt>
              <c:pt idx="2">
                <c:v>94.87433067618488</c:v>
              </c:pt>
              <c:pt idx="3">
                <c:v>101.2995936994115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8E3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93444"/>
                    </a:solidFill>
                    <a:latin typeface="PingFang SC"/>
                    <a:ea typeface="PingFang SC"/>
                    <a:cs typeface="PingFang SC"/>
                  </a:rPr>
                  <a:t>全开电流，µA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93444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</c:valAx>
      <c:valAx>
        <c:axId val="48650112"/>
        <c:scaling>
          <c:orientation val="minMax"/>
          <c:max val="5.1"/>
          <c:min val="2.8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3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93444"/>
                    </a:solidFill>
                    <a:latin typeface="PingFang SC"/>
                    <a:ea typeface="PingFang SC"/>
                    <a:cs typeface="PingFang SC"/>
                  </a:rPr>
                  <a:t>LED supply，V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93444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LED branch current</c:v>
          </c:tx>
          <c:spPr>
            <a:ln xmlns:a="http://schemas.openxmlformats.org/drawingml/2006/main" w="23813">
              <a:solidFill>
                <a:srgbClr val="247E7A"/>
              </a:solidFill>
            </a:ln>
          </c:spPr>
          <c:marker>
            <c:symbol val="none"/>
            <c:size val="6"/>
          </c:marker>
          <c:xVal>
            <c:numLit>
              <c:formatCode>General</c:formatCode>
              <c:ptCount val="86"/>
              <c:pt idx="0">
                <c:v>0</c:v>
              </c:pt>
              <c:pt idx="1">
                <c:v>0.21300000001625574</c:v>
              </c:pt>
              <c:pt idx="2">
                <c:v>0.6390000000487672</c:v>
              </c:pt>
              <c:pt idx="3">
                <c:v>0.8880000000295942</c:v>
              </c:pt>
              <c:pt idx="4">
                <c:v>1.159000000030934</c:v>
              </c:pt>
              <c:pt idx="5">
                <c:v>1.465999999996845</c:v>
              </c:pt>
              <c:pt idx="6">
                <c:v>1.8680000000168353</c:v>
              </c:pt>
              <c:pt idx="7">
                <c:v>2.13300000004215</c:v>
              </c:pt>
              <c:pt idx="8">
                <c:v>2.35900000000646</c:v>
              </c:pt>
              <c:pt idx="9">
                <c:v>2.548000000010195</c:v>
              </c:pt>
              <c:pt idx="10">
                <c:v>2.7709999999864925</c:v>
              </c:pt>
              <c:pt idx="11">
                <c:v>3.0189999999713155</c:v>
              </c:pt>
              <c:pt idx="12">
                <c:v>3.442000000015814</c:v>
              </c:pt>
              <c:pt idx="13">
                <c:v>3.752999999965742</c:v>
              </c:pt>
              <c:pt idx="14">
                <c:v>3.9689999999700105</c:v>
              </c:pt>
              <c:pt idx="15">
                <c:v>4.100999999984666</c:v>
              </c:pt>
              <c:pt idx="16">
                <c:v>4.213999999966821</c:v>
              </c:pt>
              <c:pt idx="17">
                <c:v>4.292999999976413</c:v>
              </c:pt>
              <c:pt idx="18">
                <c:v>4.362000000025963</c:v>
              </c:pt>
              <c:pt idx="19">
                <c:v>4.4319999999630975</c:v>
              </c:pt>
              <c:pt idx="20">
                <c:v>4.522000000037156</c:v>
              </c:pt>
              <c:pt idx="21">
                <c:v>4.587999999990274</c:v>
              </c:pt>
              <c:pt idx="22">
                <c:v>4.664000000011853</c:v>
              </c:pt>
              <c:pt idx="23">
                <c:v>4.7680000000299705</c:v>
              </c:pt>
              <c:pt idx="24">
                <c:v>4.846000000043558</c:v>
              </c:pt>
              <c:pt idx="25">
                <c:v>4.896000000060609</c:v>
              </c:pt>
              <c:pt idx="26">
                <c:v>4.935000000013193</c:v>
              </c:pt>
              <c:pt idx="27">
                <c:v>4.966999999993747</c:v>
              </c:pt>
              <c:pt idx="28">
                <c:v>4.996999999982293</c:v>
              </c:pt>
              <c:pt idx="29">
                <c:v>5.0180000000068015</c:v>
              </c:pt>
              <c:pt idx="30">
                <c:v>5.037000000039302</c:v>
              </c:pt>
              <c:pt idx="31">
                <c:v>5.060000000055818</c:v>
              </c:pt>
              <c:pt idx="32">
                <c:v>5.082999999963915</c:v>
              </c:pt>
              <c:pt idx="33">
                <c:v>5.111000000068873</c:v>
              </c:pt>
              <c:pt idx="34">
                <c:v>5.142000000053423</c:v>
              </c:pt>
              <c:pt idx="35">
                <c:v>5.178000000017994</c:v>
              </c:pt>
              <c:pt idx="36">
                <c:v>5.21499999997857</c:v>
              </c:pt>
              <c:pt idx="37">
                <c:v>5.261000000011603</c:v>
              </c:pt>
              <c:pt idx="38">
                <c:v>5.316000000008675</c:v>
              </c:pt>
              <c:pt idx="39">
                <c:v>5.39800000000628</c:v>
              </c:pt>
              <c:pt idx="40">
                <c:v>5.518000000068884</c:v>
              </c:pt>
              <c:pt idx="41">
                <c:v>5.639000000019073</c:v>
              </c:pt>
              <c:pt idx="42">
                <c:v>5.792000000058237</c:v>
              </c:pt>
              <c:pt idx="43">
                <c:v>5.959000000041459</c:v>
              </c:pt>
              <c:pt idx="44">
                <c:v>6.180000000025748</c:v>
              </c:pt>
              <c:pt idx="45">
                <c:v>6.446000000047067</c:v>
              </c:pt>
              <c:pt idx="46">
                <c:v>6.767000000065456</c:v>
              </c:pt>
              <c:pt idx="47">
                <c:v>7.152000000044955</c:v>
              </c:pt>
              <c:pt idx="48">
                <c:v>7.363000000069203</c:v>
              </c:pt>
              <c:pt idx="49">
                <c:v>7.6100000000580215</c:v>
              </c:pt>
              <c:pt idx="50">
                <c:v>7.819999999977845</c:v>
              </c:pt>
              <c:pt idx="51">
                <c:v>8.050000000034592</c:v>
              </c:pt>
              <c:pt idx="52">
                <c:v>8.294000000035398</c:v>
              </c:pt>
              <c:pt idx="53">
                <c:v>8.594000000029279</c:v>
              </c:pt>
              <c:pt idx="54">
                <c:v>8.903999999983203</c:v>
              </c:pt>
              <c:pt idx="55">
                <c:v>9.350000000044218</c:v>
              </c:pt>
              <c:pt idx="56">
                <c:v>9.675000000046625</c:v>
              </c:pt>
              <c:pt idx="57">
                <c:v>10.000000000049033</c:v>
              </c:pt>
              <c:pt idx="58">
                <c:v>10.008000000017066</c:v>
              </c:pt>
              <c:pt idx="59">
                <c:v>10.025000000057558</c:v>
              </c:pt>
              <c:pt idx="60">
                <c:v>10.058000000034117</c:v>
              </c:pt>
              <c:pt idx="61">
                <c:v>10.123999999987234</c:v>
              </c:pt>
              <c:pt idx="62">
                <c:v>10.198000000016805</c:v>
              </c:pt>
              <c:pt idx="63">
                <c:v>10.345999999967527</c:v>
              </c:pt>
              <c:pt idx="64">
                <c:v>10.642999999973396</c:v>
              </c:pt>
              <c:pt idx="65">
                <c:v>11.236999999985134</c:v>
              </c:pt>
              <c:pt idx="66">
                <c:v>11.845000000049351</c:v>
              </c:pt>
              <c:pt idx="67">
                <c:v>12.75799999997905</c:v>
              </c:pt>
              <c:pt idx="68">
                <c:v>13.969000000019042</c:v>
              </c:pt>
              <c:pt idx="69">
                <c:v>16.391999999986613</c:v>
              </c:pt>
              <c:pt idx="70">
                <c:v>21.237000000034165</c:v>
              </c:pt>
              <c:pt idx="71">
                <c:v>26.47700000002126</c:v>
              </c:pt>
              <c:pt idx="72">
                <c:v>29.47499999996807</c:v>
              </c:pt>
              <c:pt idx="73">
                <c:v>32.46700000004727</c:v>
              </c:pt>
              <c:pt idx="74">
                <c:v>35.49399999998662</c:v>
              </c:pt>
              <c:pt idx="75">
                <c:v>39.23699999999232</c:v>
              </c:pt>
              <c:pt idx="76">
                <c:v>43.42700000005504</c:v>
              </c:pt>
              <c:pt idx="77">
                <c:v>47.07999999998668</c:v>
              </c:pt>
              <c:pt idx="78">
                <c:v>51.00100000004007</c:v>
              </c:pt>
              <c:pt idx="79">
                <c:v>55.14199999997332</c:v>
              </c:pt>
              <c:pt idx="80">
                <c:v>61.465999999965774</c:v>
              </c:pt>
              <c:pt idx="81">
                <c:v>70.51100000003609</c:v>
              </c:pt>
              <c:pt idx="82">
                <c:v>86.92900000002723</c:v>
              </c:pt>
              <c:pt idx="83">
                <c:v>117.25099999997188</c:v>
              </c:pt>
              <c:pt idx="84">
                <c:v>177.8929999999776</c:v>
              </c:pt>
              <c:pt idx="85">
                <c:v>299.17799999998505</c:v>
              </c:pt>
            </c:numLit>
          </c:xVal>
          <c:yVal>
            <c:numLit>
              <c:formatCode>General</c:formatCode>
              <c:ptCount val="86"/>
              <c:pt idx="0">
                <c:v>-0.00447610009</c:v>
              </c:pt>
              <c:pt idx="1">
                <c:v>-0.004362534699999999</c:v>
              </c:pt>
              <c:pt idx="2">
                <c:v>0.00401093889</c:v>
              </c:pt>
              <c:pt idx="3">
                <c:v>-0.00232691723</c:v>
              </c:pt>
              <c:pt idx="4">
                <c:v>0.0009815649839999998</c:v>
              </c:pt>
              <c:pt idx="5">
                <c:v>-0.000521821551</c:v>
              </c:pt>
              <c:pt idx="6">
                <c:v>-0.00104833967</c:v>
              </c:pt>
              <c:pt idx="7">
                <c:v>-0.00691595845</c:v>
              </c:pt>
              <c:pt idx="8">
                <c:v>-0.0164215504</c:v>
              </c:pt>
              <c:pt idx="9">
                <c:v>-0.0293823008</c:v>
              </c:pt>
              <c:pt idx="10">
                <c:v>-0.0462693795</c:v>
              </c:pt>
              <c:pt idx="11">
                <c:v>-0.0613104199</c:v>
              </c:pt>
              <c:pt idx="12">
                <c:v>-0.0836667474</c:v>
              </c:pt>
              <c:pt idx="13">
                <c:v>-0.09702211079999999</c:v>
              </c:pt>
              <c:pt idx="14">
                <c:v>-0.10956975000000001</c:v>
              </c:pt>
              <c:pt idx="15">
                <c:v>-0.11599619800000001</c:v>
              </c:pt>
              <c:pt idx="16">
                <c:v>-0.124434541</c:v>
              </c:pt>
              <c:pt idx="17">
                <c:v>-0.126183574</c:v>
              </c:pt>
              <c:pt idx="18">
                <c:v>-0.130440976</c:v>
              </c:pt>
              <c:pt idx="19">
                <c:v>-0.134297417</c:v>
              </c:pt>
              <c:pt idx="20">
                <c:v>-0.169517126</c:v>
              </c:pt>
              <c:pt idx="21">
                <c:v>-0.215161655</c:v>
              </c:pt>
              <c:pt idx="22">
                <c:v>-0.288690717</c:v>
              </c:pt>
              <c:pt idx="23">
                <c:v>-0.468244879</c:v>
              </c:pt>
              <c:pt idx="24">
                <c:v>-0.722916761</c:v>
              </c:pt>
              <c:pt idx="25">
                <c:v>-1.01646249</c:v>
              </c:pt>
              <c:pt idx="26">
                <c:v>-1.45550215</c:v>
              </c:pt>
              <c:pt idx="27">
                <c:v>-1.96837571</c:v>
              </c:pt>
              <c:pt idx="28">
                <c:v>-2.05193241</c:v>
              </c:pt>
              <c:pt idx="29">
                <c:v>-2.23816884</c:v>
              </c:pt>
              <c:pt idx="30">
                <c:v>-1.9935312399999998</c:v>
              </c:pt>
              <c:pt idx="31">
                <c:v>-2.0861762</c:v>
              </c:pt>
              <c:pt idx="32">
                <c:v>-1.8390740700000001</c:v>
              </c:pt>
              <c:pt idx="33">
                <c:v>-1.90063658</c:v>
              </c:pt>
              <c:pt idx="34">
                <c:v>-1.62627016</c:v>
              </c:pt>
              <c:pt idx="35">
                <c:v>-1.65314364</c:v>
              </c:pt>
              <c:pt idx="36">
                <c:v>-1.38852552</c:v>
              </c:pt>
              <c:pt idx="37">
                <c:v>-1.4240378599999999</c:v>
              </c:pt>
              <c:pt idx="38">
                <c:v>-1.18059554</c:v>
              </c:pt>
              <c:pt idx="39">
                <c:v>-1.24682725</c:v>
              </c:pt>
              <c:pt idx="40">
                <c:v>-1.08564502</c:v>
              </c:pt>
              <c:pt idx="41">
                <c:v>-1.2619604899999999</c:v>
              </c:pt>
              <c:pt idx="42">
                <c:v>-1.08971997</c:v>
              </c:pt>
              <c:pt idx="43">
                <c:v>-0.9242852180000001</c:v>
              </c:pt>
              <c:pt idx="44">
                <c:v>0.339676936</c:v>
              </c:pt>
              <c:pt idx="45">
                <c:v>2.99140064</c:v>
              </c:pt>
              <c:pt idx="46">
                <c:v>8.90379847</c:v>
              </c:pt>
              <c:pt idx="47">
                <c:v>19.193526</c:v>
              </c:pt>
              <c:pt idx="48">
                <c:v>26.5718689</c:v>
              </c:pt>
              <c:pt idx="49">
                <c:v>36.1273534</c:v>
              </c:pt>
              <c:pt idx="50">
                <c:v>45.367519</c:v>
              </c:pt>
              <c:pt idx="51">
                <c:v>55.738713399999995</c:v>
              </c:pt>
              <c:pt idx="52">
                <c:v>66.87880059999999</c:v>
              </c:pt>
              <c:pt idx="53">
                <c:v>78.878879</c:v>
              </c:pt>
              <c:pt idx="54">
                <c:v>88.9424551</c:v>
              </c:pt>
              <c:pt idx="55">
                <c:v>98.0291204</c:v>
              </c:pt>
              <c:pt idx="56">
                <c:v>101.656523</c:v>
              </c:pt>
              <c:pt idx="57">
                <c:v>103.317292</c:v>
              </c:pt>
              <c:pt idx="58">
                <c:v>103.62657200000001</c:v>
              </c:pt>
              <c:pt idx="59">
                <c:v>103.59223999999999</c:v>
              </c:pt>
              <c:pt idx="60">
                <c:v>103.488983</c:v>
              </c:pt>
              <c:pt idx="61">
                <c:v>103.309917</c:v>
              </c:pt>
              <c:pt idx="62">
                <c:v>103.08376200000001</c:v>
              </c:pt>
              <c:pt idx="63">
                <c:v>102.746958</c:v>
              </c:pt>
              <c:pt idx="64">
                <c:v>102.292204</c:v>
              </c:pt>
              <c:pt idx="65">
                <c:v>101.946055</c:v>
              </c:pt>
              <c:pt idx="66">
                <c:v>101.846486</c:v>
              </c:pt>
              <c:pt idx="67">
                <c:v>101.81372</c:v>
              </c:pt>
              <c:pt idx="68">
                <c:v>101.75991699999999</c:v>
              </c:pt>
              <c:pt idx="69">
                <c:v>101.689918</c:v>
              </c:pt>
              <c:pt idx="70">
                <c:v>101.51223</c:v>
              </c:pt>
              <c:pt idx="71">
                <c:v>101.354285</c:v>
              </c:pt>
              <c:pt idx="72">
                <c:v>101.261833</c:v>
              </c:pt>
              <c:pt idx="73">
                <c:v>101.22883</c:v>
              </c:pt>
              <c:pt idx="74">
                <c:v>101.21617</c:v>
              </c:pt>
              <c:pt idx="75">
                <c:v>101.261337</c:v>
              </c:pt>
              <c:pt idx="76">
                <c:v>101.276367</c:v>
              </c:pt>
              <c:pt idx="77">
                <c:v>101.299875</c:v>
              </c:pt>
              <c:pt idx="78">
                <c:v>101.29124</c:v>
              </c:pt>
              <c:pt idx="79">
                <c:v>101.30537700000001</c:v>
              </c:pt>
              <c:pt idx="80">
                <c:v>101.293145</c:v>
              </c:pt>
              <c:pt idx="81">
                <c:v>101.306008</c:v>
              </c:pt>
              <c:pt idx="82">
                <c:v>101.29318400000001</c:v>
              </c:pt>
              <c:pt idx="83">
                <c:v>101.306002</c:v>
              </c:pt>
              <c:pt idx="84">
                <c:v>101.29318599999999</c:v>
              </c:pt>
              <c:pt idx="85">
                <c:v>101.30600100000001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10"/>
          <c:min val="-1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8E3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93444"/>
                    </a:solidFill>
                    <a:latin typeface="PingFang SC"/>
                    <a:ea typeface="PingFang SC"/>
                    <a:cs typeface="PingFang SC"/>
                  </a:rPr>
                  <a:t>Branch current，µA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93444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</c:valAx>
      <c:valAx>
        <c:axId val="48650112"/>
        <c:scaling>
          <c:orientation val="minMax"/>
          <c:max val="30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3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93444"/>
                    </a:solidFill>
                    <a:latin typeface="PingFang SC"/>
                    <a:ea typeface="PingFang SC"/>
                    <a:cs typeface="PingFang SC"/>
                  </a:rPr>
                  <a:t>距 RTL rising edge，ns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93444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15375" y="28098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24550" y="28098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33725" y="28098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2A201-C597-4CB4-92E0-669A03DC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整体架构与单像素目标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3C391-B356-486F-84BD-EEA1B50B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能说出整个项目的输入、处理环节和输出。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3FA5C-B748-48AD-AA29-5E833DC5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01 /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DE0D8-DB69-4AE7-ABDE-5B58E633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447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设定 duty / enable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CD64E-DE10-4B77-B7FF-F40C31B5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447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数字 PWM 逻辑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BEEC0-8A27-487E-BED5-3222905C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2447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MOS Driver Cell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62447-8BEA-449C-987E-38E813A9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33625"/>
            <a:ext cx="2447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MicroLED 电气负载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7F611-D333-4E0E-87CA-668BD87A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480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247E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47E7A"/>
                </a:solidFill>
                <a:latin typeface="PingFang SC"/>
                <a:ea typeface="PingFang SC"/>
                <a:cs typeface="PingFang SC"/>
              </a:rPr>
              <a:t>时间控制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F136B-BE48-41E4-9CE5-84169870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4805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247E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47E7A"/>
                </a:solidFill>
                <a:latin typeface="PingFang SC"/>
                <a:ea typeface="PingFang SC"/>
                <a:cs typeface="PingFang SC"/>
              </a:rPr>
              <a:t>电流幅值控制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8AFE0-EE9E-4EF3-8824-6C895730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642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IREF 100 µA 决定参考电流。Vlogic 3.3 V 控制 gate。VLED 5 V 提供 LED 电压。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FD38B-5C41-447E-AA2E-6D864E0B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9188"/>
            <a:ext cx="10820400" cy="642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当前观察电流波形与积分。真实光输出需要器件数据和测量。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6A8E2-E0E5-4C0F-96F8-041F6C11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Open MicroLED Driver ASIC   单像素教学技术报告   2026-10-03</a:t>
            </a:r>
          </a:p>
        </p:txBody>
      </p:sp>
    </p:spTree>
    <p:extLst>
      <p:ext uri="{BB962C8B-B14F-4D97-AF65-F5344CB8AC3E}">
        <p14:creationId xmlns:p14="http://schemas.microsoft.com/office/powerpoint/2010/main" val="392849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15375" y="2476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1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24550" y="2476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33725" y="2476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28C73-4A9D-4A3D-8A77-42D20EBD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当前范围与长期架构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98F17-9B13-4909-BC7D-B6802017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分清当前交付范围与长期 ASIC 架构。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3DF1E-2B14-474E-94FC-026B02E9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02 /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3DAD4-A799-404C-8761-EC725D18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47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dash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575FD-4B91-4176-83FF-AC872C77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447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dash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FPGA Controller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37CD1-E469-4468-B152-64C23D96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447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dash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ASIC 数据 / PWM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317DD-77EA-4327-B3B2-44D1084A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95500"/>
            <a:ext cx="2447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dash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Pixel Array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85800" y="3381375"/>
          <a:ext xmlns:a="http://schemas.openxmlformats.org/drawingml/2006/main" cx="108204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439150"/>
              </a:tblGrid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已有内容 / 条件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单像素仿真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RTL、六个 MOS、合成 LED、平均电流与验证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单像素版图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模拟 cell 的版图与开放规则检查。数字 physical flow 后续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4×4 及以后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存储、统一提交、独立协议、供电与参考分布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最终芯片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数字/模拟集成、pads / ESD、封装、silicon 测量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BAB66-0B84-4A44-8F5F-E5816077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上方为长期系统概念。当前 RTL 在 simulator 中执行。</a:t>
            </a:r>
          </a:p>
        </p:txBody>
      </p:sp>
    </p:spTree>
    <p:extLst>
      <p:ext uri="{BB962C8B-B14F-4D97-AF65-F5344CB8AC3E}">
        <p14:creationId xmlns:p14="http://schemas.microsoft.com/office/powerpoint/2010/main" val="1785928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DB101-46A4-4DC7-9B49-2F891716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数据、时间、电流与光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14B10-531A-42E2-8BDC-8CD93CC3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分清设定 code、PWM duty、导通电流与 optical brightness。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7EF1B-FC80-4C69-85B5-461DC460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03 /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724400"/>
                <a:gridCol w="352425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量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它控制什么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本项目例子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duty code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请求点亮多少格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D，占空比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高电平所占时间比例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 / 256 = 25%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导通时的电流幅值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101.3 µA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Iavg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整个 frame 的电流积分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25.32 µA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Optical brightness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实际发出的光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尚未建模、测量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C7D2A-C277-4DF8-AE30-A8BF8A00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典型 corner，27 °C，VLED 5 V，合成 Vf 2.8 V @100 µA</a:t>
            </a:r>
          </a:p>
        </p:txBody>
      </p:sp>
    </p:spTree>
    <p:extLst>
      <p:ext uri="{BB962C8B-B14F-4D97-AF65-F5344CB8AC3E}">
        <p14:creationId xmlns:p14="http://schemas.microsoft.com/office/powerpoint/2010/main" val="1867979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73540" y="4024313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40880" y="4024313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08220" y="4024313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575560" y="4024313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85100" y="245268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64000" y="245268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E469B0-356C-4D02-A3F4-13F30CA4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控制信号与电流通路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08819-B26F-4BD7-8BF7-667F87E9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在同一图上找出控制信号和真实导通电流路径。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CD9AA-099E-44C5-B43F-BC3CCBDF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04 /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B12E9-FF9E-4429-8B41-35A4BEE4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782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duty / enable / reset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1F624-C4B1-4271-9F43-61C50515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095500"/>
            <a:ext cx="33782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PWM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CDD7A-C520-4350-94A9-ABD62FE7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95500"/>
            <a:ext cx="33782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Gate selection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5A6A6-E507-427E-90FE-EBBFC2D3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88976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VLED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C671A-9D35-42CF-A9AD-C280C9DD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3667125"/>
            <a:ext cx="188976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VSENSE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77937-0EDA-4CAF-BCF9-915A052F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3667125"/>
            <a:ext cx="188976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MicroLED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F4AA6-B7B7-421B-BA14-D56DEBA7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3667125"/>
            <a:ext cx="188976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XOUT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77B7B-338B-4894-93C1-48DB7193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3667125"/>
            <a:ext cx="188976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GND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C5149-4AE5-4742-AABC-A79DAA72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7E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47E7A"/>
                </a:solidFill>
                <a:latin typeface="PingFang SC"/>
                <a:ea typeface="PingFang SC"/>
                <a:cs typeface="PingFang SC"/>
              </a:rPr>
              <a:t>控制路径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CFAC8-8B97-4F1A-9055-648D836A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7E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47E7A"/>
                </a:solidFill>
                <a:latin typeface="PingFang SC"/>
                <a:ea typeface="PingFang SC"/>
                <a:cs typeface="PingFang SC"/>
              </a:rPr>
              <a:t>电流路径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D9F79-F500-4BB1-B807-D8100DDE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bias 是参考支路的电压。gate 控制输出 NMOS。led_k 是 LED cathode。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03C4F-614B-4DA6-8A65-273C4C84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VSENSE 是零伏电流测量元件。当前电源、ground 和 IREF 都是理想假设。</a:t>
            </a:r>
          </a:p>
        </p:txBody>
      </p:sp>
    </p:spTree>
    <p:extLst>
      <p:ext uri="{BB962C8B-B14F-4D97-AF65-F5344CB8AC3E}">
        <p14:creationId xmlns:p14="http://schemas.microsoft.com/office/powerpoint/2010/main" val="1356967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E896F-F79A-47DA-8629-635BA387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Clock、Slot 与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7C7F0-95B1-43AC-A008-D8E87454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用时间轴读懂 PWM 的时间单位。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468DC-C108-4B15-B52D-873B869B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05 /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724400"/>
                <a:gridCol w="3619500"/>
              </a:tblGrid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时间单位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定义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当前设定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 rising edge 推进状态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MHz，周期 1 µs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Slot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两个相邻 rising edge 之间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µs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Frame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counter 从 0 到 255 的一轮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 µs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PWM frequency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每秒重复多少 frame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3906.25 Hz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最短非零脉冲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duty=1 的高电平宽度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slot = 1 µs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7728F-5C8B-49D3-BA98-B9E9CD19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1 MHz 与 256 slots 是 baseline 假设。改变任一参数都要重新检查最短脉冲。</a:t>
            </a:r>
          </a:p>
        </p:txBody>
      </p:sp>
    </p:spTree>
    <p:extLst>
      <p:ext uri="{BB962C8B-B14F-4D97-AF65-F5344CB8AC3E}">
        <p14:creationId xmlns:p14="http://schemas.microsoft.com/office/powerpoint/2010/main" val="503053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F2D9B-9F7B-4F93-AFDC-776C4B3B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Counter 与 Comparator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30902-81B9-445E-8215-0983FABA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能按 slot 手算 PWM 输出，并对应到 RTL。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D6B84-6ED6-4B0C-8FAA-4631A8E8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06 /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0992C-2998-4C63-BE80-3A63C8E4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66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93444"/>
                </a:solidFill>
                <a:latin typeface="Avenir Next"/>
                <a:ea typeface="Avenir Next"/>
                <a:cs typeface="Avenir Next"/>
              </a:rPr>
              <a:t>counter &lt;= counter + 8'd1;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93444"/>
                </a:solidFill>
                <a:latin typeface="Avenir Next"/>
                <a:ea typeface="Avenir Next"/>
                <a:cs typeface="Avenir Next"/>
              </a:rPr>
              <a:t>assign pwm = active_enable &amp;&amp;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93444"/>
                </a:solidFill>
                <a:latin typeface="Avenir Next"/>
                <a:ea typeface="Avenir Next"/>
                <a:cs typeface="Avenir Next"/>
              </a:rPr>
              <a:t>  ({1'b0, counter} &lt; active_duty);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4171950"/>
          <a:ext xmlns:a="http://schemas.openxmlformats.org/drawingml/2006/main" cx="108204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62900"/>
              </a:tblGrid>
              <a:tr h="4603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counter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duty=64 时输出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4603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0…63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64…255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1F407-065A-49F1-A4A2-E6A8EC5A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Counter 保存“走到第几格”。Comparator 判断“是否还在点亮范围”。</a:t>
            </a:r>
          </a:p>
        </p:txBody>
      </p:sp>
    </p:spTree>
    <p:extLst>
      <p:ext uri="{BB962C8B-B14F-4D97-AF65-F5344CB8AC3E}">
        <p14:creationId xmlns:p14="http://schemas.microsoft.com/office/powerpoint/2010/main" val="700648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83983-0EC8-4F39-89DB-5580507A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PWM 分辨率与精确全开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A22D7-7B62-406D-A018-A10EFD2F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理解 exact off / exact full-on 两个端点的编码。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B742D-DC60-403C-AB0C-2B2CDFA5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07 /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62900"/>
              </a:tblGrid>
              <a:tr h="65722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请求 duty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整帧关闭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255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 255 格，低 1 格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整帧开启，无边界低脉冲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257…511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Clamp 为 256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F0871-610A-4A32-89FD-A51D8BE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8-bit counter 覆盖 256 个 slot。9-bit threshold 额外表示精确全开。</a:t>
            </a:r>
          </a:p>
        </p:txBody>
      </p:sp>
    </p:spTree>
    <p:extLst>
      <p:ext uri="{BB962C8B-B14F-4D97-AF65-F5344CB8AC3E}">
        <p14:creationId xmlns:p14="http://schemas.microsoft.com/office/powerpoint/2010/main" val="19553662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15375" y="26670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24550" y="26670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33725" y="26670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E5A9C-239A-4B19-AD03-05871089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帧边界更新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CFB5F-7AEA-47ED-8AF5-9D060814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区分 requested duty 与 active duty。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28D83-31EE-40E1-A476-AB006E5C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08 /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90697-161F-41C7-BB65-F7CC83CD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447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请求 duty = 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48DC7-8ED5-45F3-9E6A-3E93D53C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447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等待帧边界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F477F-7904-4E7B-AEF6-9150A361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447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active_duty = 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0C4BA-075F-4DFB-8506-46C67C7F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90750"/>
            <a:ext cx="2447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当前整帧固定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BF7B6-889A-45D4-9A74-76B9596A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Requested duty 是输入请求，active duty 是当前帧设定。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1C15E-FAF2-4D91-826B-37984C81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3863"/>
            <a:ext cx="1082040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在 frame boundary 才锁存 duty 和 enable。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8335F-DAAF-408D-8670-6C404A2D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82040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帧中更新不改变正在执行的脉冲。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E3CF9-FAAD-4A94-B39F-1E89C282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2088"/>
            <a:ext cx="1082040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下一帧采用边界前最后的输入值。</a:t>
            </a:r>
          </a:p>
        </p:txBody>
      </p:sp>
    </p:spTree>
    <p:extLst>
      <p:ext uri="{BB962C8B-B14F-4D97-AF65-F5344CB8AC3E}">
        <p14:creationId xmlns:p14="http://schemas.microsoft.com/office/powerpoint/2010/main" val="1647565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23B84-427E-4440-B017-6BF79709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Reset 与 Enable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50DA4-4623-497E-ADF0-DFA58396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预测 reset、disable 与恢复输出的时间。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6AC81-A9D1-43A1-93DC-BF017923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09 /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524250"/>
                <a:gridCol w="49149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生效时间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rst =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下一个 clock rising edge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清零当前有效状态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rst 释放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第一个 rising edge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 slot 0 开始新 frame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enable =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下一个 frame boundary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整帧关闭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enable = 1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下一个 frame boundary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恢复请求 duty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1533E-A6EA-49DF-A88D-CF5A2ED5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输入属于同一个 clock domain。异步通信接口与 CDC 尚未实现。</a:t>
            </a:r>
          </a:p>
        </p:txBody>
      </p:sp>
    </p:spTree>
    <p:extLst>
      <p:ext uri="{BB962C8B-B14F-4D97-AF65-F5344CB8AC3E}">
        <p14:creationId xmlns:p14="http://schemas.microsoft.com/office/powerpoint/2010/main" val="106138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15375" y="2714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24550" y="2714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33725" y="2714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16310-BDC8-4BF1-AEA6-4DDFEDF0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RTL 与 SPICE 的边沿桥接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64D2E-5DD0-4D06-BA1C-2FE9BFB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理解 feed-forward 联动是怎样建立的。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1736D-9A9D-4A08-BAC6-1345BDAE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10 /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B347F-6081-4DD7-A668-684DD9F5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447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执行 Verilog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D1E50-5EB9-446D-9C15-B2CE3A5D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2447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导出真实 edge 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3235A-F94E-42AD-8967-FD350B93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2447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0 / 3.3 V PWL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4E8B4-1D2B-4946-989C-8F045F4A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38375"/>
            <a:ext cx="24479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ngspice 解电路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682A9-C33F-450D-83DB-C52C5FE4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每个电压 ramp 从实际 RTL timestamp 开始，rise / fall 均假设 10 ns。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33717-97DD-4FC6-98FA-41762F82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耦合方向为 digital 到 analog。电流不能改变已经生成的 RTL 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6B99A-E60D-4934-8E2C-0B2DF5E9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这一步验证控制链。反馈需要 sense / comparator 与 simulator event bridge。</a:t>
            </a:r>
          </a:p>
        </p:txBody>
      </p:sp>
    </p:spTree>
    <p:extLst>
      <p:ext uri="{BB962C8B-B14F-4D97-AF65-F5344CB8AC3E}">
        <p14:creationId xmlns:p14="http://schemas.microsoft.com/office/powerpoint/2010/main" val="15763615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191625" y="4714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8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191625" y="2571750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143625" y="4238625"/>
            <a:ext cx="176212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024438" y="4000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86125" y="3476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047875" y="242887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63107-E220-432C-8DD3-0F0763A7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Current Mirror 与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C90AF-97CB-4E2A-B8F3-BFA02F8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理解 diode-connected reference MOS 与 output MOS 的分工。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7FCF9-263F-446E-9DF5-7FB6B710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11 /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6B89F-7248-4DB2-8371-DDB5D3B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XREF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Diode-connected NMOS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90914-791A-4470-BC51-CA28411E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2238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bias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参考电流形成 VGS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23C3E-186C-4CB7-B97F-D9AED334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XOUT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NMOS Current Sink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D822F-E3F7-4F0C-94F8-574A5369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IREF = 100 µA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外部理想源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6AA23-68BB-4B82-8703-2C303631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6212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MicroLED 负载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VLED = 5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D517E-977B-456F-A0F1-022DBCB9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2238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Gate selection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PWM 开时传递 bias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8C5A3-E919-40D3-B66F-A841C724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81625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GND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63D31-D28C-4026-BAC8-1DDDC6FB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同一 W/L = 10 µm / 2 µm</a:t>
            </a:r>
          </a:p>
        </p:txBody>
      </p:sp>
    </p:spTree>
    <p:extLst>
      <p:ext uri="{BB962C8B-B14F-4D97-AF65-F5344CB8AC3E}">
        <p14:creationId xmlns:p14="http://schemas.microsoft.com/office/powerpoint/2010/main" val="12762452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3E701-3382-42B4-AD9A-E54AA106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Headroom 与电压余量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F1128-655C-47E2-9FB2-1D07FE41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用节点电压解释为什么降低供电会掉电流。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77BDD-FDEB-46E1-BF3C-AB08A4E5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12 /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FBA7C-4FC4-4C06-8A31-DFBEA689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150" b="1">
                <a:solidFill>
                  <a:srgbClr val="247E7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47E7A"/>
                </a:solidFill>
                <a:latin typeface="PingFang SC"/>
                <a:ea typeface="PingFang SC"/>
                <a:cs typeface="PingFang SC"/>
              </a:rPr>
              <a:t>VDS,out = VLED − Vf(实际电流)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2AEC9-3359-4E7C-B7B3-F69558B6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Vf 是 LED 在实际电流下的正向压降。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DFD3D-AB52-47DF-B152-E70E29F1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0969"/>
            <a:ext cx="108204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VDS,out 是输出 MOS drain 与 source 的电压。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D2F4F-F6E4-4F4E-B217-CFE60104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8188"/>
            <a:ext cx="108204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当前 VDS,out = VLED − Vf(ILED)。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29C59-82C8-4B11-95EB-048AE1AD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5406"/>
            <a:ext cx="108204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5 V nominal 下，actual Vf≈2.801 V，VDS≈2.199 V。</a:t>
            </a:r>
          </a:p>
        </p:txBody>
      </p:sp>
    </p:spTree>
    <p:extLst>
      <p:ext uri="{BB962C8B-B14F-4D97-AF65-F5344CB8AC3E}">
        <p14:creationId xmlns:p14="http://schemas.microsoft.com/office/powerpoint/2010/main" val="17999958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9F999-FB95-405D-BD85-002E5CDD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六个 MOS 的电路连接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2C509-6017-4FAF-B240-15D75680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能从器件表逐项核对完整 netlist。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B1B3D-8ACC-478D-88B6-81F65B3A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13 /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2047875"/>
                <a:gridCol w="6915150"/>
              </a:tblGrid>
              <a:tr h="564696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Instance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 / L，µm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连接与作用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564696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/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D=G=bias，S=B=GND。形成 reference VGS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XOUT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/ 2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D=led_k，G=gate，S=B=GND。输出 sink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564696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XPASS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/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PWM 开时把 bias 送到 gate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XCLAMP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/ 1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PWM 关时把 gate 拉到 GND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564696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XINV_N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/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PWM 高时把 pwm_b 拉低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XINV_P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/ 1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PWM 低时把 pwm_b 拉到 Vlogic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E5CB9-9EDE-4BDF-917F-1C9E7420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6 V MOS。D / G / S / B 分别为 drain / gate / source / bulk。</a:t>
            </a:r>
          </a:p>
        </p:txBody>
      </p:sp>
    </p:spTree>
    <p:extLst>
      <p:ext uri="{BB962C8B-B14F-4D97-AF65-F5344CB8AC3E}">
        <p14:creationId xmlns:p14="http://schemas.microsoft.com/office/powerpoint/2010/main" val="17489645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467BE-99B7-4BD8-A927-8B755E78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PWM 开关与 Gate Clamp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FD0B6-CCD9-49E3-B12A-517E69EF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预测 gate selection 的状态，并理解 off-state 放电。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B4219-B85F-4E8A-A2D4-CDC02671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14 / 28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095500"/>
                <a:gridCol w="2095500"/>
                <a:gridCol w="43434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XPASS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XCLAMP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XOUT gate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PWM 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连接 reference bias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PWM 低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关断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导通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拉低到 ground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0D454-9510-4685-AD76-FFA3D224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Gate 是电荷节点。仅断开 bias 会保留 gate charge。Clamp 提供明确关断通路。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93DA0-7F76-4359-8293-D367646A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2563"/>
            <a:ext cx="108204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Inverter 有延迟，switch 可能短暂重叠。要同时看 bias、gate 和电流边沿。</a:t>
            </a:r>
          </a:p>
        </p:txBody>
      </p:sp>
    </p:spTree>
    <p:extLst>
      <p:ext uri="{BB962C8B-B14F-4D97-AF65-F5344CB8AC3E}">
        <p14:creationId xmlns:p14="http://schemas.microsoft.com/office/powerpoint/2010/main" val="7052055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8FACE-3EC4-4071-8217-D128C767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PDK 与 6 V MOS 选型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9FB9D-D13A-4F02-BEB0-C022903F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看懂工艺选择的需求与证据，而不是只记一个名称。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762B9-6A50-441A-9D66-DC6F187E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15 /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124325"/>
                <a:gridCol w="4124325"/>
              </a:tblGrid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比较项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SKY130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GF180MCU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 MOS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1.8 V，另有高压选项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3.3 V / 6 V MOS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LED current sink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高压 MOS 是候选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本阶段选 6 V MOS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控制与供电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需要分别检查 domain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3.3 V control / 5 V LED baseline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公开工具路径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成熟 open-source flow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Magic / Netgen / LibreLane 支持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本项目判断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保留为备选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先让低速单像素路线可解释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C1F6F-B435-403E-94E1-7F415E19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公开 PDK 与开放 deck 不等于 foundry signoff。最终工艺取决于 IO 与实际 MPW。</a:t>
            </a:r>
          </a:p>
        </p:txBody>
      </p:sp>
    </p:spTree>
    <p:extLst>
      <p:ext uri="{BB962C8B-B14F-4D97-AF65-F5344CB8AC3E}">
        <p14:creationId xmlns:p14="http://schemas.microsoft.com/office/powerpoint/2010/main" val="17168361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22428-2598-41C1-9A73-1C7967AE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完整参数与版本记录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21A3D-A50A-4856-AFA7-96FBA5E5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能从参数表重建当前设计，不依赖口头说明。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B0EE4-4B97-4A8A-9011-AB457CB3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16 /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581400"/>
                <a:gridCol w="4905375"/>
              </a:tblGrid>
              <a:tr h="61118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公开设定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选择理由与边界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61118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Reference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外部 ideal 100 µA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先隔离 reference generation 的复杂度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Mirror W / L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µm / 2 µm，1:1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较长 L，先研究输出电阻与面积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61118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Switch / inverter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2/1，PMOS 为 4/1 µm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Gate 选择与 clamp，未做优化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供电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Vlogic 3.3 V / VLED 5 V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 reference、LED 和 MOS 留余量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61118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模型与依赖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PDK commit / SHA256 / uv.lock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版本改变后必须重新验证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48AD1-8F79-4D55-B606-1E54BF6B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全部是可检查的 baseline 决策。当前没有精度、最小面积或功耗最优的承诺。</a:t>
            </a:r>
          </a:p>
        </p:txBody>
      </p:sp>
    </p:spTree>
    <p:extLst>
      <p:ext uri="{BB962C8B-B14F-4D97-AF65-F5344CB8AC3E}">
        <p14:creationId xmlns:p14="http://schemas.microsoft.com/office/powerpoint/2010/main" val="15549986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E4A05-AA03-48AC-AA83-BF04070D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Simple Mirror 与升级条件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4AED1-4AE9-4180-9EAA-75F74C05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将拓扑复杂度与具体问题对应起来。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A8F85-2A35-44FB-AAB8-27E97F1F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17 /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810000"/>
                <a:gridCol w="37719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能解决什么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主要代价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Resistor limiting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最小电路与对照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Vf 变化直接影响电流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Simple mirror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在余量足够时复制 reference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有限输出电阻与 mismatch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Cascode mirror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改善输出电阻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更多 bias 与更大 headroom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Programmable sink / DAC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电流幅值调节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面积、settling、DNL / INL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5F383-C54D-4893-904E-EDB4C16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升级由 baseline 暴露的问题驱动。先检查余量、边沿与 reference 分布。</a:t>
            </a:r>
          </a:p>
        </p:txBody>
      </p:sp>
    </p:spTree>
    <p:extLst>
      <p:ext uri="{BB962C8B-B14F-4D97-AF65-F5344CB8AC3E}">
        <p14:creationId xmlns:p14="http://schemas.microsoft.com/office/powerpoint/2010/main" val="1412600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1B924-7F2D-428A-9255-198CE2E1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简化 MicroLED 电气模型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87120-ACF2-43BE-8973-B9C5C874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认识模型包括什么、每个参数是什么。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45199-8746-42E5-8B41-1B94800D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18 /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429000"/>
                <a:gridCol w="47244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当前值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意义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 / 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/ 50 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Effective ideality / series resistance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CJO / VJ / M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pF / 2.5 V / 0.33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Junction capacitance 假设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TT / 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ns / 2.6 eV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Charge storage / 温度方程参数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TNOM / IS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 °C / 由目标 Vf 计算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锚定 100 µA 下的 2.4 / 2.8 / 3.2 V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984EB-E072-4289-A03D-55182257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Synthetic electrical model。没有样品、尺寸、颜色、光学效率或热模型的拟合。</a:t>
            </a:r>
          </a:p>
        </p:txBody>
      </p:sp>
    </p:spTree>
    <p:extLst>
      <p:ext uri="{BB962C8B-B14F-4D97-AF65-F5344CB8AC3E}">
        <p14:creationId xmlns:p14="http://schemas.microsoft.com/office/powerpoint/2010/main" val="16604568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EB4C7-2DE6-41B2-9DE4-EEDD10E3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独立 DC 校准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04CA2-4F4D-41B4-B83B-1EAC4943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理解参数计算不等于 simulator 实际执行正确。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3C08D-9B48-4110-9BBA-C7F07BF4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19 / 28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333750"/>
                <a:gridCol w="4629150"/>
              </a:tblGrid>
              <a:tr h="559594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 Vf，V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模拟 Vf，V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校准条件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559594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2.399999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 µA / 27 °C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9594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2.8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2.799999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 µA / 27 °C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559594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3.199999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 µA / 27 °C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C2C34-0ED3-4BFC-B510-A8FAB90B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先用独立电流源验证 LED，再接入 mirror。要求 Vf 偏差小于 0.1 mV。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C5514-3EEA-45C9-B256-26E4FF09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7813"/>
            <a:ext cx="108204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Solver 可能静默限制极小 IS。干净 log 不能证明模型参数按目标生效。</a:t>
            </a:r>
          </a:p>
        </p:txBody>
      </p:sp>
    </p:spTree>
    <p:extLst>
      <p:ext uri="{BB962C8B-B14F-4D97-AF65-F5344CB8AC3E}">
        <p14:creationId xmlns:p14="http://schemas.microsoft.com/office/powerpoint/2010/main" val="6014964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5F1E8-DD5C-4E53-B6D6-D5E5592A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可复现的实验入口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1F348-244F-46D7-A19E-CB90CD44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读者能运行 baseline 并定位输出文件。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85F18-DD69-42B3-A842-551C33A6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20 /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819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入口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要看什么输出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make setup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Locked dependencies、固定模型与 SHA256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make test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Bridge checks 与完整 RTL self-check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make sim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 case 的 edge CSV、netlist、raw waveform、metrics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make evidence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所有检查通过后保存精简证据与 source hashes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5912E-40D7-422E-89DB-05A41F24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本地验证：Icarus 13.0、ngspice 47、Python 3.12.13。CI template 尚待权限启用。</a:t>
            </a:r>
          </a:p>
        </p:txBody>
      </p:sp>
    </p:spTree>
    <p:extLst>
      <p:ext uri="{BB962C8B-B14F-4D97-AF65-F5344CB8AC3E}">
        <p14:creationId xmlns:p14="http://schemas.microsoft.com/office/powerpoint/2010/main" val="9991577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BB5C7-4984-4863-86FE-5D112363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平均电流的测量窗口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59B84-16E5-4D82-B6DD-031503DE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能解释 average current 的分母和计算方式。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A97FC-76E6-442E-9049-E771980B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21 /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03338-41C1-41EE-BF79-A200BAAF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000" b="1">
                <a:solidFill>
                  <a:srgbClr val="247E7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47E7A"/>
                </a:solidFill>
                <a:latin typeface="PingFang SC"/>
                <a:ea typeface="PingFang SC"/>
                <a:cs typeface="PingFang SC"/>
              </a:rPr>
              <a:t>Iavg = ∫ Ibranch(t) dt / 测量时长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3048000"/>
          <a:ext xmlns:a="http://schemas.openxmlformats.org/drawingml/2006/main" cx="108204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819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首个 frame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2.5 µs 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预热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个 frame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测量窗口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514.5–1538.5 µs，4 个完整 frame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积分方法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按真实 timestep 加权，边界插值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04D69-A798-44E1-8C79-D5A50D53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SPICE 使用 adaptive timestep。直接平均样本会让密集边沿获得错误权重。</a:t>
            </a:r>
          </a:p>
        </p:txBody>
      </p:sp>
    </p:spTree>
    <p:extLst>
      <p:ext uri="{BB962C8B-B14F-4D97-AF65-F5344CB8AC3E}">
        <p14:creationId xmlns:p14="http://schemas.microsoft.com/office/powerpoint/2010/main" val="20870829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BC2CF-78DD-4A00-9A23-731B1115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PWM 与平均电流的关系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89680-6E52-485A-BF13-E94034B5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用 measured full-on result 核对 duty-current 关系。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EBA4D-B5FA-4904-AF24-2F8C08E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22 / 28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3705c524eb4e2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E0D55-FD2A-4BA7-9B71-9FBEDB22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43125"/>
            <a:ext cx="2809875" cy="106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全开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101.30 µA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2F3F1-F291-433A-9E21-2D2466E7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02000"/>
            <a:ext cx="2809875" cy="106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25% duty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25.32 µA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60D05-80AF-4ADB-A667-B26A6FBC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60875"/>
            <a:ext cx="2809875" cy="106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最短 duty=1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0.39494 µA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486CD-AC23-4527-8CCA-61B87D98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Typical，27 °C，VLED 5 V，IREF 100 µA，synthetic Vf 2.8 V</a:t>
            </a:r>
          </a:p>
        </p:txBody>
      </p:sp>
    </p:spTree>
    <p:extLst>
      <p:ext uri="{BB962C8B-B14F-4D97-AF65-F5344CB8AC3E}">
        <p14:creationId xmlns:p14="http://schemas.microsoft.com/office/powerpoint/2010/main" val="16315313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D9AA6-89DD-4B7A-870A-AE16FAB3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Vf 变化与供电不足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F7FC9-10FE-4BEA-905E-006C75F4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通过 negative control 识别 headroom 限制。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50A77-E7BB-49BA-9C11-5932550B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23 / 28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5238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c9abe1abe64b72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334125" y="2095500"/>
          <a:ext xmlns:a="http://schemas.openxmlformats.org/drawingml/2006/main" cx="5238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34e8bf03a6420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4DBAD-4EDE-456D-92DB-7D188C2B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5 V 时 Vf 变化影响较小。Supply 2.9 V 时降到 49.39 µA，显示 compliance 限制。</a:t>
            </a:r>
          </a:p>
        </p:txBody>
      </p:sp>
    </p:spTree>
    <p:extLst>
      <p:ext uri="{BB962C8B-B14F-4D97-AF65-F5344CB8AC3E}">
        <p14:creationId xmlns:p14="http://schemas.microsoft.com/office/powerpoint/2010/main" val="106693715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3B393-F1C6-43D7-BBE4-F86BF4DC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PWM 边沿与充放电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DC5EC-10A3-4F23-A977-1EC88660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区分电气 transient、plateau 与 optical output。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86F40-8E30-4459-99CC-FEBD6258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24 / 28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7048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6f3e4ba1064ec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F0D49-0D22-4C2A-84BC-3C5AC848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314325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边沿含 charge / displacement current。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0EF63-DB07-47E9-BE2A-1ED42972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4375"/>
            <a:ext cx="314325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短负脉冲或 overshoot 是电气量。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A1A5C-B277-4CCE-82CB-34066F4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5625"/>
            <a:ext cx="314325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平均 branch current 只是 brightness proxy。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D1258-51DA-46AF-9146-279F3749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此图是 raw solver samples。Peak convergence 与光学响应尚未单独验证。</a:t>
            </a:r>
          </a:p>
        </p:txBody>
      </p:sp>
    </p:spTree>
    <p:extLst>
      <p:ext uri="{BB962C8B-B14F-4D97-AF65-F5344CB8AC3E}">
        <p14:creationId xmlns:p14="http://schemas.microsoft.com/office/powerpoint/2010/main" val="10278043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C686F-3307-408C-9284-5DDD1847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验证层次与证据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B0030-C72D-4F9B-8D7F-2E49385D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能用分母、条件与文件判断当前完成程度。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0F06D-2095-44B5-958B-D473EA01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25 /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391025"/>
                <a:gridCol w="39052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证据层次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实际含义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目前范围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RTL self-check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逻辑与边界行为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518 frame / 133,159 checks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Bridge / analog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时间与积分、模型条件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 bridge tests / 19 analog checks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Phase 1 SPICE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指定 models / biases 的解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 coupled runs + 3 LED calibration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DRC / LVS / RC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所选规则、连接与寄生回归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Six-MOS cell / 36 runs / 19 guards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Silicon / optical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制造与光输出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尚未测量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C4009-A612-400F-954E-F7C35ACF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少量 FF / SS 与温度单点不是完整 PVT、Monte Carlo 或 yield 证明。</a:t>
            </a:r>
          </a:p>
        </p:txBody>
      </p:sp>
    </p:spTree>
    <p:extLst>
      <p:ext uri="{BB962C8B-B14F-4D97-AF65-F5344CB8AC3E}">
        <p14:creationId xmlns:p14="http://schemas.microsoft.com/office/powerpoint/2010/main" val="15496585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7354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4088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0822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7556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E7A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47B6E-2F78-4518-8B34-38732ADD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Layout、DRC、LVS 与 PEX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CE23B-D6AC-4842-8F23-E68018E1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知道 schematic、DRC、LVS、PEX 各自验证什么。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93C0C-2826-433C-9827-91F54964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26 /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E79F2-CAD0-442E-8F39-D0F331DD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8897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Layout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470C4-A9AA-43F8-BB0F-A956713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333625"/>
            <a:ext cx="18897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DRC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C3A5D-1984-4A5D-A487-484E4BF7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333625"/>
            <a:ext cx="18897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LVS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35711-760A-47F8-B535-BD57D7B8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2333625"/>
            <a:ext cx="18897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Extraction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0BD30-7C5E-4160-8D08-9C3BFF0C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2333625"/>
            <a:ext cx="18897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Post-layout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3695700"/>
          <a:ext xmlns:a="http://schemas.openxmlformats.org/drawingml/2006/main" cx="108204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058150"/>
              </a:tblGrid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它回答的问题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DRC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Geometry 是否符合所选 design rules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LVS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Layout 抽取的器件和连接是否与 schematic 一致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Extraction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哪些电阻、电容与连接需要进入仿真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Post-layout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加入抽取内容后行为怎样变化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4912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D465A-70BA-4B05-85C0-C1FA7423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单像素版图与 Matching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748EB-0BEF-49DC-ABFA-CD4EA008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能指出当前六 MOS cell 物理实现需要关注的节点。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1D2E2-C523-460E-A1B9-FE8E2B85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27 / 28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c88d297a54a87"/>
          <a:stretch xmlns:a="http://schemas.openxmlformats.org/drawingml/2006/main"/>
        </p:blipFill>
        <p:spPr>
          <a:xfrm xmlns:a="http://schemas.openxmlformats.org/drawingml/2006/main">
            <a:off x="5857875" y="2474889"/>
            <a:ext cx="5648325" cy="281309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CF9B9-F843-4ADB-A1D2-3411FD74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66725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Magic DRC = 0，Netgen LVS 唯一匹配。GDS 回读也通过。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D3B80-0F19-4B32-A0DC-E29E0F1D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2625"/>
            <a:ext cx="466725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7 / 7 nets 抽取，59 R / 43 C。配对仿真有 19 项 guards。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598A7-00AC-444C-BDDF-979F3681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7375"/>
            <a:ext cx="466725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全开：101.29959 → 101.23651 µA；25% RC 电流：25.30824 µA。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B37B9-A357-4E77-963E-322C9C2F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Standalone analog cell。Full-PDK 配对回归；数字集成、pad / ESD 与 foundry signoff 后续。</a:t>
            </a:r>
          </a:p>
        </p:txBody>
      </p:sp>
    </p:spTree>
    <p:extLst>
      <p:ext uri="{BB962C8B-B14F-4D97-AF65-F5344CB8AC3E}">
        <p14:creationId xmlns:p14="http://schemas.microsoft.com/office/powerpoint/2010/main" val="125538108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91C13-7499-44F4-BF99-F9F279B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93444"/>
                </a:solidFill>
                <a:latin typeface="PingFang SC"/>
                <a:ea typeface="PingFang SC"/>
                <a:cs typeface="PingFang SC"/>
              </a:rPr>
              <a:t>4×4 阵列的前置条件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71A12-54DD-4028-A7FA-F6B1796B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理解增加 16 个像素会新增哪些系统责任。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BD8B2-FF59-43F9-9159-6931B8EE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28 /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486650"/>
              </a:tblGrid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新增问题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学习与验证顺序</a:t>
                      </a:r>
                    </a:p>
                  </a:txBody>
                  <a:tcPr marL="91440" marR="91440" marT="45720" marB="45720" anchor="ctr">
                    <a:solidFill>
                      <a:srgbClr val="193444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 个像素的设定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Address / pixel state / brightness code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统一更新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Shadow state、frame commit 与同步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独立协议、reset、错误行为与 CDC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模拟分布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Reference fanout、power / ground、simultaneous switching</a:t>
                      </a:r>
                    </a:p>
                  </a:txBody>
                  <a:tcPr marL="91440" marR="91440" marT="45720" marB="45720" anchor="ctr">
                    <a:solidFill>
                      <a:srgbClr val="EFF5F5"/>
                    </a:solidFill>
                  </a:tcPr>
                </a:tc>
              </a:tr>
              <a:tr h="5794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物理规模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4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Routing、IR drop、matching、array-level checks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1F022-DBE2-48B5-8E91-EAA301EC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2777D"/>
                </a:solidFill>
                <a:latin typeface="PingFang SC"/>
                <a:ea typeface="PingFang SC"/>
                <a:cs typeface="PingFang SC"/>
              </a:rPr>
              <a:t>下一轮先读懂并复现这个 pixel。4×4 的协议与电路参数尚未定案。</a:t>
            </a:r>
          </a:p>
        </p:txBody>
      </p:sp>
    </p:spTree>
    <p:extLst>
      <p:ext uri="{BB962C8B-B14F-4D97-AF65-F5344CB8AC3E}">
        <p14:creationId xmlns:p14="http://schemas.microsoft.com/office/powerpoint/2010/main" val="350123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2026-10-03T10:09:29.9380000Z</dcterms:created>
  <dcterms:modified xsi:type="dcterms:W3CDTF">2026-10-03T10:09:29.9380000Z</dcterms:modified>
</coreProperties>
</file>